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68b675-e75a-cab7-42b2-41411f1cb2ac}">
          <p14:sldIdLst>
            <p14:sldId id="256"/>
          </p14:sldIdLst>
        </p14:section>
        <p14:section name="Context" id="{6343976e-21ab-fb91-2065-d312358b6063}">
          <p14:sldIdLst>
            <p14:sldId id="257"/>
            <p14:sldId id="258"/>
          </p14:sldIdLst>
        </p14:section>
        <p14:section name="Findings" id="{a1006e0d-05f9-4fe3-6c89-52f9b1c84249}">
          <p14:sldIdLst>
            <p14:sldId id="259"/>
            <p14:sldId id="260"/>
            <p14:sldId id="261"/>
            <p14:sldId id="262"/>
          </p14:sldIdLst>
        </p14:section>
        <p14:section name="Decisions" id="{24286e34-8278-0e1b-16ad-d25da32a4b4a}">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263F"/>
                </a:solidFill>
                <a:latin typeface="+mn-lt"/>
              </a:defRPr>
            </a:pPr>
            <a:r>
              <a:rPr sz="1400" b="0" i="0" u="none" strike="noStrike">
                <a:solidFill>
                  <a:srgbClr val="12263F"/>
                </a:solidFill>
                <a:latin typeface="+mn-lt"/>
              </a:rPr>
              <a:t>Assets by category</a:t>
            </a:r>
          </a:p>
        </c:rich>
      </c:tx>
      <c:layout/>
      <c:overlay val="0"/>
    </c:title>
    <c:autoTitleDeleted val="0"/>
    <c:plotArea>
      <c:layout/>
      <c:barChart>
        <c:barDir val="bar"/>
        <c:grouping val="clustered"/>
        <c:varyColors val="0"/>
        <c:ser>
          <c:idx val="0"/>
          <c:order val="0"/>
          <c:tx>
            <c:strRef>
              <c:f>Sheet1!$B$1</c:f>
              <c:strCache>
                <c:ptCount val="1"/>
                <c:pt idx="0">
                  <c:v>Assets</c:v>
                </c:pt>
              </c:strCache>
            </c:strRef>
          </c:tx>
          <c:spPr>
            <a:solidFill>
              <a:srgbClr val="2E75B6"/>
            </a:solidFill>
            <a:effectLst/>
          </c:spPr>
          <c:invertIfNegative val="0"/>
          <c:dLbls>
            <c:numFmt formatCode="#,##0" sourceLinked="0"/>
            <c:txPr>
              <a:bodyPr/>
              <a:lstStyle/>
              <a:p>
                <a:pPr>
                  <a:defRPr b="0" i="0" strike="noStrike" sz="1200" u="none">
                    <a:solidFill>
                      <a:srgbClr val="12263F"/>
                    </a:solidFill>
                    <a:latin typeface="+mn-lt"/>
                  </a:defRPr>
                </a:pPr>
              </a:p>
            </c:txPr>
            <c:showLegendKey val="0"/>
            <c:showVal val="1"/>
            <c:showCatName val="0"/>
            <c:showSerName val="0"/>
            <c:showPercent val="0"/>
            <c:showBubbleSize val="0"/>
            <c:showLeaderLines val="0"/>
          </c:dLbls>
          <c:cat>
            <c:multiLvlStrRef>
              <c:f>Sheet1!$A$2:$A$7</c:f>
              <c:multiLvlStrCache>
                <c:ptCount val="6"/>
                <c:lvl>
                  <c:pt idx="0">
                    <c:v>Software</c:v>
                  </c:pt>
                  <c:pt idx="1">
                    <c:v>Infrastructure</c:v>
                  </c:pt>
                  <c:pt idx="2">
                    <c:v>Hardware</c:v>
                  </c:pt>
                  <c:pt idx="3">
                    <c:v>Data Asset</c:v>
                  </c:pt>
                  <c:pt idx="4">
                    <c:v>IT Service</c:v>
                  </c:pt>
                  <c:pt idx="5">
                    <c:v>Facility</c:v>
                  </c:pt>
                </c:lvl>
              </c:multiLvlStrCache>
            </c:multiLvlStrRef>
          </c:cat>
          <c:val>
            <c:numRef>
              <c:f>Sheet1!$B$2:$B$7</c:f>
              <c:numCache>
                <c:formatCode>General</c:formatCode>
                <c:ptCount val="6"/>
                <c:pt idx="0">
                  <c:v>12</c:v>
                </c:pt>
                <c:pt idx="1">
                  <c:v>8</c:v>
                </c:pt>
                <c:pt idx="2">
                  <c:v>7</c:v>
                </c:pt>
                <c:pt idx="3">
                  <c:v>7</c:v>
                </c:pt>
                <c:pt idx="4">
                  <c:v>6</c:v>
                </c:pt>
                <c:pt idx="5">
                  <c:v>5</c:v>
                </c:pt>
              </c:numCache>
            </c:numRef>
          </c:val>
        </c:ser>
        <c:dLbls>
          <c:numFmt formatCode="#,##0" sourceLinked="0"/>
          <c:txPr>
            <a:bodyPr/>
            <a:lstStyle/>
            <a:p>
              <a:pPr>
                <a:defRPr b="0" i="0" strike="noStrike" sz="1200" u="none">
                  <a:solidFill>
                    <a:srgbClr val="12263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6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263F"/>
                </a:solidFill>
                <a:latin typeface="+mn-lt"/>
              </a:defRPr>
            </a:pPr>
            <a:r>
              <a:rPr sz="1400" b="0" i="0" u="none" strike="noStrike">
                <a:solidFill>
                  <a:srgbClr val="12263F"/>
                </a:solidFill>
                <a:latin typeface="+mn-lt"/>
              </a:rPr>
              <a:t>Risk level by category (assets)</a:t>
            </a:r>
          </a:p>
        </c:rich>
      </c:tx>
      <c:layout/>
      <c:overlay val="0"/>
    </c:title>
    <c:autoTitleDeleted val="0"/>
    <c:plotArea>
      <c:layout/>
      <c:barChart>
        <c:barDir val="col"/>
        <c:grouping val="stacked"/>
        <c:varyColors val="0"/>
        <c:ser>
          <c:idx val="0"/>
          <c:order val="0"/>
          <c:tx>
            <c:strRef>
              <c:f>Sheet1!$B$1</c:f>
              <c:strCache>
                <c:ptCount val="1"/>
                <c:pt idx="0">
                  <c:v>High</c:v>
                </c:pt>
              </c:strCache>
            </c:strRef>
          </c:tx>
          <c:spPr>
            <a:solidFill>
              <a:srgbClr val="C039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Software</c:v>
                  </c:pt>
                  <c:pt idx="1">
                    <c:v>Infrastructure</c:v>
                  </c:pt>
                  <c:pt idx="2">
                    <c:v>Hardware</c:v>
                  </c:pt>
                  <c:pt idx="3">
                    <c:v>Data Asset</c:v>
                  </c:pt>
                  <c:pt idx="4">
                    <c:v>IT Service</c:v>
                  </c:pt>
                  <c:pt idx="5">
                    <c:v>Facility</c:v>
                  </c:pt>
                </c:lvl>
              </c:multiLvlStrCache>
            </c:multiLvlStrRef>
          </c:cat>
          <c:val>
            <c:numRef>
              <c:f>Sheet1!$B$2:$B$7</c:f>
              <c:numCache>
                <c:formatCode>General</c:formatCode>
                <c:ptCount val="6"/>
                <c:pt idx="0">
                  <c:v>9</c:v>
                </c:pt>
                <c:pt idx="1">
                  <c:v>6</c:v>
                </c:pt>
                <c:pt idx="2">
                  <c:v>4</c:v>
                </c:pt>
                <c:pt idx="3">
                  <c:v>4</c:v>
                </c:pt>
                <c:pt idx="4">
                  <c:v>2</c:v>
                </c:pt>
                <c:pt idx="5">
                  <c:v>2</c:v>
                </c:pt>
              </c:numCache>
            </c:numRef>
          </c:val>
        </c:ser>
        <c:ser>
          <c:idx val="1"/>
          <c:order val="1"/>
          <c:tx>
            <c:strRef>
              <c:f>Sheet1!$C$1</c:f>
              <c:strCache>
                <c:ptCount val="1"/>
                <c:pt idx="0">
                  <c:v>Medium</c:v>
                </c:pt>
              </c:strCache>
            </c:strRef>
          </c:tx>
          <c:spPr>
            <a:solidFill>
              <a:srgbClr val="F2A54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Software</c:v>
                  </c:pt>
                  <c:pt idx="1">
                    <c:v>Infrastructure</c:v>
                  </c:pt>
                  <c:pt idx="2">
                    <c:v>Hardware</c:v>
                  </c:pt>
                  <c:pt idx="3">
                    <c:v>Data Asset</c:v>
                  </c:pt>
                  <c:pt idx="4">
                    <c:v>IT Service</c:v>
                  </c:pt>
                  <c:pt idx="5">
                    <c:v>Facility</c:v>
                  </c:pt>
                </c:lvl>
              </c:multiLvlStrCache>
            </c:multiLvlStrRef>
          </c:cat>
          <c:val>
            <c:numRef>
              <c:f>Sheet1!$C$2:$C$7</c:f>
              <c:numCache>
                <c:formatCode>General</c:formatCode>
                <c:ptCount val="6"/>
                <c:pt idx="0">
                  <c:v>3</c:v>
                </c:pt>
                <c:pt idx="1">
                  <c:v>2</c:v>
                </c:pt>
                <c:pt idx="2">
                  <c:v>2</c:v>
                </c:pt>
                <c:pt idx="3">
                  <c:v>3</c:v>
                </c:pt>
                <c:pt idx="4">
                  <c:v>4</c:v>
                </c:pt>
                <c:pt idx="5">
                  <c:v>3</c:v>
                </c:pt>
              </c:numCache>
            </c:numRef>
          </c:val>
        </c:ser>
        <c:ser>
          <c:idx val="2"/>
          <c:order val="2"/>
          <c:tx>
            <c:strRef>
              <c:f>Sheet1!$D$1</c:f>
              <c:strCache>
                <c:ptCount val="1"/>
                <c:pt idx="0">
                  <c:v>Low</c:v>
                </c:pt>
              </c:strCache>
            </c:strRef>
          </c:tx>
          <c:spPr>
            <a:solidFill>
              <a:srgbClr val="2E8B6A"/>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Software</c:v>
                  </c:pt>
                  <c:pt idx="1">
                    <c:v>Infrastructure</c:v>
                  </c:pt>
                  <c:pt idx="2">
                    <c:v>Hardware</c:v>
                  </c:pt>
                  <c:pt idx="3">
                    <c:v>Data Asset</c:v>
                  </c:pt>
                  <c:pt idx="4">
                    <c:v>IT Service</c:v>
                  </c:pt>
                  <c:pt idx="5">
                    <c:v>Facility</c:v>
                  </c:pt>
                </c:lvl>
              </c:multiLvlStrCache>
            </c:multiLvlStrRef>
          </c:cat>
          <c:val>
            <c:numRef>
              <c:f>Sheet1!$D$2:$D$7</c:f>
              <c:numCache>
                <c:formatCode>General</c:formatCode>
                <c:ptCount val="6"/>
                <c:pt idx="0">
                  <c:v>0</c:v>
                </c:pt>
                <c:pt idx="1">
                  <c:v>0</c:v>
                </c:pt>
                <c:pt idx="2">
                  <c:v>1</c:v>
                </c:pt>
                <c:pt idx="3">
                  <c:v>0</c:v>
                </c:pt>
                <c:pt idx="4">
                  <c:v>0</c:v>
                </c:pt>
                <c:pt idx="5">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5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F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2263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register moved from 15 example assets to 45 assets, including eight provisional PayStream Analytics assets. The next slides explain why we needed it, how it was built, and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drivers. First, the audit observation. Second, PayStream. Third, HIPAA and PCI DSS expect a precise inventory, which we cannot demonstrate without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follows the NexusGuard template: collect, classify, assign accountability, then assess risk and set a review date. Every asset has all 14 fields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assets across all six categories. Eight come from PayStream. Thirteen hold Restricted data, and 28 are rated Critical for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percent of the register is rated High risk, and 23 of the 28 Critical assets are High. These ratings are initial judgments from the register build and need confirmation through formal risk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is the theme. Two services underpin nine assets each. Almost a third of assets are physically in the HQ data center. Most critical assets are High risk and need formal treatment. Five owners hold 58 percent of the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PayStream assets are recorded so far, about a fifth of the expected 40 or more. They are built from acquisition documentation and must be validated through discovery. Seven of the eight are High risk, mainly because identity and cloud controls are not yet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The timings are recommendations for the committee to confirm. The register is only useful if owners attest to it and it is kept current through procurement and change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120640" cy="173736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3154680"/>
            <a:ext cx="5120640" cy="11887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120640" cy="1737360"/>
          </a:xfrm>
          <a:prstGeom prst="rect">
            <a:avLst/>
          </a:prstGeom>
          <a:noFill/>
          <a:ln/>
        </p:spPr>
        <p:txBody>
          <a:bodyPr wrap="square" lIns="0" tIns="0" rIns="0" bIns="0" rtlCol="0" anchor="t"/>
          <a:lstStyle/>
          <a:p>
            <a:pPr algn="l" indent="0" marL="0">
              <a:buNone/>
            </a:pPr>
            <a:r>
              <a:rPr lang="en-US" sz="3800" b="1" dirty="0">
                <a:solidFill>
                  <a:schemeClr val="bg1"/>
                </a:solidFill>
                <a:latin typeface="Cambria" pitchFamily="34" charset="0"/>
                <a:ea typeface="Cambria" pitchFamily="34" charset="-122"/>
                <a:cs typeface="Cambria" pitchFamily="34" charset="-120"/>
              </a:rPr>
              <a:t>Information Asset Register: approach and key findings</a:t>
            </a:r>
            <a:endParaRPr lang="en-US" sz="3800" dirty="0"/>
          </a:p>
        </p:txBody>
      </p:sp>
      <p:sp>
        <p:nvSpPr>
          <p:cNvPr id="3" name="Text 0"/>
          <p:cNvSpPr/>
          <p:nvPr>
            <p:ph idx="101" type="body" hasCustomPrompt="1"/>
          </p:nvPr>
        </p:nvSpPr>
        <p:spPr>
          <a:xfrm>
            <a:off x="548640" y="3154680"/>
            <a:ext cx="5120640" cy="1188720"/>
          </a:xfrm>
          <a:prstGeom prst="rect">
            <a:avLst/>
          </a:prstGeom>
          <a:noFill/>
          <a:ln/>
        </p:spPr>
        <p:txBody>
          <a:bodyPr wrap="square" lIns="0" tIns="0" rIns="0" bIns="0" rtlCol="0" anchor="t"/>
          <a:lstStyle/>
          <a:p>
            <a:pPr algn="l" indent="0" marL="0">
              <a:buNone/>
            </a:pPr>
            <a:r>
              <a:rPr lang="en-US" sz="1600" dirty="0">
                <a:solidFill>
                  <a:schemeClr val="bg2"/>
                </a:solidFill>
              </a:rPr>
              <a:t>Briefing for the Information Security Steering Committee</a:t>
            </a:r>
            <a:endParaRPr lang="en-US" sz="1600" dirty="0"/>
          </a:p>
          <a:p>
            <a:pPr algn="l" indent="0" marL="0">
              <a:buNone/>
            </a:pPr>
            <a:r>
              <a:rPr lang="en-US" sz="1400" dirty="0">
                <a:solidFill>
                  <a:srgbClr val="B7C6D8"/>
                </a:solidFill>
              </a:rPr>
              <a:t>October 2026  |  Augustine Ozor, GRC Analyst</a:t>
            </a:r>
            <a:endParaRPr lang="en-US" sz="1600" dirty="0"/>
          </a:p>
        </p:txBody>
      </p:sp>
      <p:sp>
        <p:nvSpPr>
          <p:cNvPr id="4" name="Hero card"/>
          <p:cNvSpPr/>
          <p:nvPr/>
        </p:nvSpPr>
        <p:spPr>
          <a:xfrm>
            <a:off x="6126480" y="914400"/>
            <a:ext cx="2560320" cy="3291840"/>
          </a:xfrm>
          <a:prstGeom prst="roundRect">
            <a:avLst>
              <a:gd name="adj" fmla="val 2857"/>
            </a:avLst>
          </a:prstGeom>
          <a:solidFill>
            <a:srgbClr val="1F4676"/>
          </a:solidFill>
          <a:ln w="12700">
            <a:solidFill>
              <a:srgbClr val="1F4676"/>
            </a:solidFill>
            <a:prstDash val="solid"/>
          </a:ln>
        </p:spPr>
      </p:sp>
      <p:sp>
        <p:nvSpPr>
          <p:cNvPr id="5" name="Before count"/>
          <p:cNvSpPr txBox="1"/>
          <p:nvPr/>
        </p:nvSpPr>
        <p:spPr>
          <a:xfrm>
            <a:off x="6309360" y="1143000"/>
            <a:ext cx="914400" cy="822960"/>
          </a:xfrm>
          <a:prstGeom prst="rect">
            <a:avLst/>
          </a:prstGeom>
          <a:noFill/>
          <a:ln/>
        </p:spPr>
        <p:txBody>
          <a:bodyPr wrap="square" lIns="0" tIns="0" rIns="0" bIns="0" rtlCol="0" anchor="ctr"/>
          <a:lstStyle/>
          <a:p>
            <a:pPr indent="0" marL="0">
              <a:buNone/>
            </a:pPr>
            <a:r>
              <a:rPr lang="en-US" sz="4800" b="1" dirty="0">
                <a:solidFill>
                  <a:srgbClr val="B7C6D8"/>
                </a:solidFill>
                <a:latin typeface="Cambria" pitchFamily="34" charset="0"/>
                <a:ea typeface="Cambria" pitchFamily="34" charset="-122"/>
                <a:cs typeface="Cambria" pitchFamily="34" charset="-120"/>
              </a:rPr>
              <a:t>15</a:t>
            </a:r>
            <a:endParaRPr lang="en-US" sz="4800" dirty="0"/>
          </a:p>
        </p:txBody>
      </p:sp>
      <p:sp>
        <p:nvSpPr>
          <p:cNvPr id="6" name="Before label"/>
          <p:cNvSpPr txBox="1"/>
          <p:nvPr/>
        </p:nvSpPr>
        <p:spPr>
          <a:xfrm>
            <a:off x="6309360" y="1920240"/>
            <a:ext cx="2194560" cy="320040"/>
          </a:xfrm>
          <a:prstGeom prst="rect">
            <a:avLst/>
          </a:prstGeom>
          <a:noFill/>
          <a:ln/>
        </p:spPr>
        <p:txBody>
          <a:bodyPr wrap="square" lIns="0" tIns="0" rIns="0" bIns="0" rtlCol="0" anchor="ctr"/>
          <a:lstStyle/>
          <a:p>
            <a:pPr indent="0" marL="0">
              <a:buNone/>
            </a:pPr>
            <a:r>
              <a:rPr lang="en-US" sz="1400" dirty="0">
                <a:solidFill>
                  <a:srgbClr val="B7C6D8"/>
                </a:solidFill>
              </a:rPr>
              <a:t>assets before</a:t>
            </a:r>
            <a:endParaRPr lang="en-US" sz="1400" dirty="0"/>
          </a:p>
        </p:txBody>
      </p:sp>
      <p:pic>
        <p:nvPicPr>
          <p:cNvPr id="7" name="Image 0" descr="arrow icon">    </p:cNvPr>
          <p:cNvPicPr>
            <a:picLocks noChangeAspect="1"/>
          </p:cNvPicPr>
          <p:nvPr/>
        </p:nvPicPr>
        <p:blipFill>
          <a:blip r:embed="rId1"/>
          <a:stretch>
            <a:fillRect/>
          </a:stretch>
        </p:blipFill>
        <p:spPr>
          <a:xfrm>
            <a:off x="6309360" y="2423160"/>
            <a:ext cx="320040" cy="320040"/>
          </a:xfrm>
          <a:prstGeom prst="rect">
            <a:avLst/>
          </a:prstGeom>
        </p:spPr>
      </p:pic>
      <p:sp>
        <p:nvSpPr>
          <p:cNvPr id="8" name="After count"/>
          <p:cNvSpPr txBox="1"/>
          <p:nvPr/>
        </p:nvSpPr>
        <p:spPr>
          <a:xfrm>
            <a:off x="6309360" y="2743200"/>
            <a:ext cx="1463040" cy="822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45</a:t>
            </a:r>
            <a:endParaRPr lang="en-US" sz="5400" dirty="0"/>
          </a:p>
        </p:txBody>
      </p:sp>
      <p:sp>
        <p:nvSpPr>
          <p:cNvPr id="9" name="After label"/>
          <p:cNvSpPr txBox="1"/>
          <p:nvPr/>
        </p:nvSpPr>
        <p:spPr>
          <a:xfrm>
            <a:off x="6309360" y="3611880"/>
            <a:ext cx="2286000" cy="365760"/>
          </a:xfrm>
          <a:prstGeom prst="rect">
            <a:avLst/>
          </a:prstGeom>
          <a:noFill/>
          <a:ln/>
        </p:spPr>
        <p:txBody>
          <a:bodyPr wrap="square" lIns="0" tIns="0" rIns="0" bIns="0" rtlCol="0" anchor="ctr"/>
          <a:lstStyle/>
          <a:p>
            <a:pPr indent="0" marL="0">
              <a:buNone/>
            </a:pPr>
            <a:r>
              <a:rPr lang="en-US" sz="1400" dirty="0">
                <a:solidFill>
                  <a:srgbClr val="FFFFFF"/>
                </a:solidFill>
              </a:rPr>
              <a:t>assets in the register today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a register, and why now</a:t>
            </a:r>
            <a:endParaRPr lang="en-US" sz="3000" dirty="0"/>
          </a:p>
        </p:txBody>
      </p:sp>
      <p:sp>
        <p:nvSpPr>
          <p:cNvPr id="3" name="Why card 1"/>
          <p:cNvSpPr/>
          <p:nvPr/>
        </p:nvSpPr>
        <p:spPr>
          <a:xfrm>
            <a:off x="457200" y="1280160"/>
            <a:ext cx="2596896" cy="3017520"/>
          </a:xfrm>
          <a:prstGeom prst="roundRect">
            <a:avLst>
              <a:gd name="adj" fmla="val 2817"/>
            </a:avLst>
          </a:prstGeom>
          <a:solidFill>
            <a:schemeClr val="bg2"/>
          </a:solidFill>
          <a:ln w="12700">
            <a:solidFill>
              <a:schemeClr val="bg2"/>
            </a:solidFill>
            <a:prstDash val="solid"/>
          </a:ln>
        </p:spPr>
      </p:sp>
      <p:sp>
        <p:nvSpPr>
          <p:cNvPr id="4" name="Why icon bg 1"/>
          <p:cNvSpPr/>
          <p:nvPr/>
        </p:nvSpPr>
        <p:spPr>
          <a:xfrm>
            <a:off x="685800" y="1508760"/>
            <a:ext cx="640080" cy="640080"/>
          </a:xfrm>
          <a:prstGeom prst="ellipse">
            <a:avLst/>
          </a:prstGeom>
          <a:solidFill>
            <a:srgbClr val="2E75B6"/>
          </a:solidFill>
          <a:ln w="12700">
            <a:solidFill>
              <a:srgbClr val="2E75B6"/>
            </a:solidFill>
            <a:prstDash val="solid"/>
          </a:ln>
        </p:spPr>
      </p:sp>
      <p:pic>
        <p:nvPicPr>
          <p:cNvPr id="5" name="Image 0" descr="Audit observation icon">    </p:cNvPr>
          <p:cNvPicPr>
            <a:picLocks noChangeAspect="1"/>
          </p:cNvPicPr>
          <p:nvPr/>
        </p:nvPicPr>
        <p:blipFill>
          <a:blip r:embed="rId1"/>
          <a:stretch>
            <a:fillRect/>
          </a:stretch>
        </p:blipFill>
        <p:spPr>
          <a:xfrm>
            <a:off x="841248" y="1664208"/>
            <a:ext cx="329184" cy="329184"/>
          </a:xfrm>
          <a:prstGeom prst="rect">
            <a:avLst/>
          </a:prstGeom>
        </p:spPr>
      </p:pic>
      <p:sp>
        <p:nvSpPr>
          <p:cNvPr id="6" name="Why head 1"/>
          <p:cNvSpPr txBox="1"/>
          <p:nvPr/>
        </p:nvSpPr>
        <p:spPr>
          <a:xfrm>
            <a:off x="685800" y="2331720"/>
            <a:ext cx="21945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Audit observation</a:t>
            </a:r>
            <a:endParaRPr lang="en-US" sz="1800" dirty="0"/>
          </a:p>
        </p:txBody>
      </p:sp>
      <p:sp>
        <p:nvSpPr>
          <p:cNvPr id="7" name="Why body 1"/>
          <p:cNvSpPr txBox="1"/>
          <p:nvPr/>
        </p:nvSpPr>
        <p:spPr>
          <a:xfrm>
            <a:off x="685800" y="2743200"/>
            <a:ext cx="2194560" cy="1371600"/>
          </a:xfrm>
          <a:prstGeom prst="rect">
            <a:avLst/>
          </a:prstGeom>
          <a:noFill/>
          <a:ln/>
        </p:spPr>
        <p:txBody>
          <a:bodyPr wrap="square" lIns="0" tIns="0" rIns="0" bIns="0" rtlCol="0" anchor="t"/>
          <a:lstStyle/>
          <a:p>
            <a:pPr indent="0" marL="0">
              <a:buNone/>
            </a:pPr>
            <a:r>
              <a:rPr lang="en-US" sz="1400" dirty="0">
                <a:solidFill>
                  <a:schemeClr val="tx1"/>
                </a:solidFill>
              </a:rPr>
              <a:t>We are ISO 27001 certified, yet the previous auditor noted we have never kept a formal asset register.</a:t>
            </a:r>
            <a:endParaRPr lang="en-US" sz="1400" dirty="0"/>
          </a:p>
        </p:txBody>
      </p:sp>
      <p:sp>
        <p:nvSpPr>
          <p:cNvPr id="8" name="Why card 2"/>
          <p:cNvSpPr/>
          <p:nvPr/>
        </p:nvSpPr>
        <p:spPr>
          <a:xfrm>
            <a:off x="3273552" y="1280160"/>
            <a:ext cx="2596896" cy="3017520"/>
          </a:xfrm>
          <a:prstGeom prst="roundRect">
            <a:avLst>
              <a:gd name="adj" fmla="val 2817"/>
            </a:avLst>
          </a:prstGeom>
          <a:solidFill>
            <a:schemeClr val="bg2"/>
          </a:solidFill>
          <a:ln w="12700">
            <a:solidFill>
              <a:schemeClr val="bg2"/>
            </a:solidFill>
            <a:prstDash val="solid"/>
          </a:ln>
        </p:spPr>
      </p:sp>
      <p:sp>
        <p:nvSpPr>
          <p:cNvPr id="9" name="Why icon bg 2"/>
          <p:cNvSpPr/>
          <p:nvPr/>
        </p:nvSpPr>
        <p:spPr>
          <a:xfrm>
            <a:off x="3502152" y="1508760"/>
            <a:ext cx="640080" cy="640080"/>
          </a:xfrm>
          <a:prstGeom prst="ellipse">
            <a:avLst/>
          </a:prstGeom>
          <a:solidFill>
            <a:srgbClr val="F2A541"/>
          </a:solidFill>
          <a:ln w="12700">
            <a:solidFill>
              <a:srgbClr val="F2A541"/>
            </a:solidFill>
            <a:prstDash val="solid"/>
          </a:ln>
        </p:spPr>
      </p:sp>
      <p:pic>
        <p:nvPicPr>
          <p:cNvPr id="10" name="Image 1" descr="PayStream assets icon">    </p:cNvPr>
          <p:cNvPicPr>
            <a:picLocks noChangeAspect="1"/>
          </p:cNvPicPr>
          <p:nvPr/>
        </p:nvPicPr>
        <p:blipFill>
          <a:blip r:embed="rId2"/>
          <a:stretch>
            <a:fillRect/>
          </a:stretch>
        </p:blipFill>
        <p:spPr>
          <a:xfrm>
            <a:off x="3657600" y="1664208"/>
            <a:ext cx="329184" cy="329184"/>
          </a:xfrm>
          <a:prstGeom prst="rect">
            <a:avLst/>
          </a:prstGeom>
        </p:spPr>
      </p:pic>
      <p:sp>
        <p:nvSpPr>
          <p:cNvPr id="11" name="Why head 2"/>
          <p:cNvSpPr txBox="1"/>
          <p:nvPr/>
        </p:nvSpPr>
        <p:spPr>
          <a:xfrm>
            <a:off x="3502152" y="2331720"/>
            <a:ext cx="21945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PayStream assets</a:t>
            </a:r>
            <a:endParaRPr lang="en-US" sz="1800" dirty="0"/>
          </a:p>
        </p:txBody>
      </p:sp>
      <p:sp>
        <p:nvSpPr>
          <p:cNvPr id="12" name="Why body 2"/>
          <p:cNvSpPr txBox="1"/>
          <p:nvPr/>
        </p:nvSpPr>
        <p:spPr>
          <a:xfrm>
            <a:off x="3502152" y="2743200"/>
            <a:ext cx="2194560" cy="1371600"/>
          </a:xfrm>
          <a:prstGeom prst="rect">
            <a:avLst/>
          </a:prstGeom>
          <a:noFill/>
          <a:ln/>
        </p:spPr>
        <p:txBody>
          <a:bodyPr wrap="square" lIns="0" tIns="0" rIns="0" bIns="0" rtlCol="0" anchor="t"/>
          <a:lstStyle/>
          <a:p>
            <a:pPr indent="0" marL="0">
              <a:buNone/>
            </a:pPr>
            <a:r>
              <a:rPr lang="en-US" sz="1400" dirty="0">
                <a:solidFill>
                  <a:schemeClr val="tx1"/>
                </a:solidFill>
              </a:rPr>
              <a:t>The 2025 acquisition brings 40+ new assets that need owners, classification and risk ratings.</a:t>
            </a:r>
            <a:endParaRPr lang="en-US" sz="1400" dirty="0"/>
          </a:p>
        </p:txBody>
      </p:sp>
      <p:sp>
        <p:nvSpPr>
          <p:cNvPr id="13" name="Why card 3"/>
          <p:cNvSpPr/>
          <p:nvPr/>
        </p:nvSpPr>
        <p:spPr>
          <a:xfrm>
            <a:off x="6089904" y="1280160"/>
            <a:ext cx="2596896" cy="3017520"/>
          </a:xfrm>
          <a:prstGeom prst="roundRect">
            <a:avLst>
              <a:gd name="adj" fmla="val 2817"/>
            </a:avLst>
          </a:prstGeom>
          <a:solidFill>
            <a:schemeClr val="bg2"/>
          </a:solidFill>
          <a:ln w="12700">
            <a:solidFill>
              <a:schemeClr val="bg2"/>
            </a:solidFill>
            <a:prstDash val="solid"/>
          </a:ln>
        </p:spPr>
      </p:sp>
      <p:sp>
        <p:nvSpPr>
          <p:cNvPr id="14" name="Why icon bg 3"/>
          <p:cNvSpPr/>
          <p:nvPr/>
        </p:nvSpPr>
        <p:spPr>
          <a:xfrm>
            <a:off x="6318504" y="1508760"/>
            <a:ext cx="640080" cy="640080"/>
          </a:xfrm>
          <a:prstGeom prst="ellipse">
            <a:avLst/>
          </a:prstGeom>
          <a:solidFill>
            <a:srgbClr val="2E8B6A"/>
          </a:solidFill>
          <a:ln w="12700">
            <a:solidFill>
              <a:srgbClr val="2E8B6A"/>
            </a:solidFill>
            <a:prstDash val="solid"/>
          </a:ln>
        </p:spPr>
      </p:sp>
      <p:pic>
        <p:nvPicPr>
          <p:cNvPr id="15" name="Image 2" descr="HIPAA and PCI DSS icon">    </p:cNvPr>
          <p:cNvPicPr>
            <a:picLocks noChangeAspect="1"/>
          </p:cNvPicPr>
          <p:nvPr/>
        </p:nvPicPr>
        <p:blipFill>
          <a:blip r:embed="rId3"/>
          <a:stretch>
            <a:fillRect/>
          </a:stretch>
        </p:blipFill>
        <p:spPr>
          <a:xfrm>
            <a:off x="6473952" y="1664208"/>
            <a:ext cx="329184" cy="329184"/>
          </a:xfrm>
          <a:prstGeom prst="rect">
            <a:avLst/>
          </a:prstGeom>
        </p:spPr>
      </p:pic>
      <p:sp>
        <p:nvSpPr>
          <p:cNvPr id="16" name="Why head 3"/>
          <p:cNvSpPr txBox="1"/>
          <p:nvPr/>
        </p:nvSpPr>
        <p:spPr>
          <a:xfrm>
            <a:off x="6318504" y="2331720"/>
            <a:ext cx="21945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HIPAA and PCI DSS</a:t>
            </a:r>
            <a:endParaRPr lang="en-US" sz="1800" dirty="0"/>
          </a:p>
        </p:txBody>
      </p:sp>
      <p:sp>
        <p:nvSpPr>
          <p:cNvPr id="17" name="Why body 3"/>
          <p:cNvSpPr txBox="1"/>
          <p:nvPr/>
        </p:nvSpPr>
        <p:spPr>
          <a:xfrm>
            <a:off x="6318504" y="2743200"/>
            <a:ext cx="2194560" cy="1371600"/>
          </a:xfrm>
          <a:prstGeom prst="rect">
            <a:avLst/>
          </a:prstGeom>
          <a:noFill/>
          <a:ln/>
        </p:spPr>
        <p:txBody>
          <a:bodyPr wrap="square" lIns="0" tIns="0" rIns="0" bIns="0" rtlCol="0" anchor="t"/>
          <a:lstStyle/>
          <a:p>
            <a:pPr indent="0" marL="0">
              <a:buNone/>
            </a:pPr>
            <a:r>
              <a:rPr lang="en-US" sz="1400" dirty="0">
                <a:solidFill>
                  <a:schemeClr val="tx1"/>
                </a:solidFill>
              </a:rPr>
              <a:t>Both require precise inventories of systems and the regulated data they hold.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we built the register</a:t>
            </a:r>
            <a:endParaRPr lang="en-US" sz="3000" dirty="0"/>
          </a:p>
        </p:txBody>
      </p:sp>
      <p:sp>
        <p:nvSpPr>
          <p:cNvPr id="3" name="Step circle 1"/>
          <p:cNvSpPr/>
          <p:nvPr/>
        </p:nvSpPr>
        <p:spPr>
          <a:xfrm>
            <a:off x="502920" y="1280160"/>
            <a:ext cx="731520" cy="731520"/>
          </a:xfrm>
          <a:prstGeom prst="ellipse">
            <a:avLst/>
          </a:prstGeom>
          <a:solidFill>
            <a:srgbClr val="17365D"/>
          </a:solidFill>
          <a:ln w="12700">
            <a:solidFill>
              <a:srgbClr val="17365D"/>
            </a:solidFill>
            <a:prstDash val="solid"/>
          </a:ln>
        </p:spPr>
      </p:sp>
      <p:pic>
        <p:nvPicPr>
          <p:cNvPr id="4" name="Image 0" descr="Collect icon">    </p:cNvPr>
          <p:cNvPicPr>
            <a:picLocks noChangeAspect="1"/>
          </p:cNvPicPr>
          <p:nvPr/>
        </p:nvPicPr>
        <p:blipFill>
          <a:blip r:embed="rId1"/>
          <a:stretch>
            <a:fillRect/>
          </a:stretch>
        </p:blipFill>
        <p:spPr>
          <a:xfrm>
            <a:off x="704088" y="1481328"/>
            <a:ext cx="329184" cy="329184"/>
          </a:xfrm>
          <a:prstGeom prst="rect">
            <a:avLst/>
          </a:prstGeom>
        </p:spPr>
      </p:pic>
      <p:sp>
        <p:nvSpPr>
          <p:cNvPr id="5" name="Step link 1"/>
          <p:cNvSpPr/>
          <p:nvPr/>
        </p:nvSpPr>
        <p:spPr>
          <a:xfrm>
            <a:off x="1325880" y="1645920"/>
            <a:ext cx="1234440" cy="0"/>
          </a:xfrm>
          <a:prstGeom prst="line">
            <a:avLst/>
          </a:prstGeom>
          <a:noFill/>
          <a:ln w="19050">
            <a:solidFill>
              <a:srgbClr val="5F6F82"/>
            </a:solidFill>
            <a:prstDash val="dash"/>
          </a:ln>
        </p:spPr>
      </p:sp>
      <p:sp>
        <p:nvSpPr>
          <p:cNvPr id="6" name="Step head 1"/>
          <p:cNvSpPr txBox="1"/>
          <p:nvPr/>
        </p:nvSpPr>
        <p:spPr>
          <a:xfrm>
            <a:off x="457200" y="2194560"/>
            <a:ext cx="1920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Collect</a:t>
            </a:r>
            <a:endParaRPr lang="en-US" sz="1800" dirty="0"/>
          </a:p>
        </p:txBody>
      </p:sp>
      <p:sp>
        <p:nvSpPr>
          <p:cNvPr id="7" name="Step body 1"/>
          <p:cNvSpPr txBox="1"/>
          <p:nvPr/>
        </p:nvSpPr>
        <p:spPr>
          <a:xfrm>
            <a:off x="457200" y="2606040"/>
            <a:ext cx="1828800" cy="1097280"/>
          </a:xfrm>
          <a:prstGeom prst="rect">
            <a:avLst/>
          </a:prstGeom>
          <a:noFill/>
          <a:ln/>
        </p:spPr>
        <p:txBody>
          <a:bodyPr wrap="square" lIns="0" tIns="0" rIns="0" bIns="0" rtlCol="0" anchor="t"/>
          <a:lstStyle/>
          <a:p>
            <a:pPr indent="0" marL="0">
              <a:buNone/>
            </a:pPr>
            <a:r>
              <a:rPr lang="en-US" sz="1400" dirty="0">
                <a:solidFill>
                  <a:schemeClr val="tx1"/>
                </a:solidFill>
              </a:rPr>
              <a:t>CTO spreadsheets and system documentation, reviewed against the 15 template assets</a:t>
            </a:r>
            <a:endParaRPr lang="en-US" sz="1400" dirty="0"/>
          </a:p>
        </p:txBody>
      </p:sp>
      <p:sp>
        <p:nvSpPr>
          <p:cNvPr id="8" name="Step circle 2"/>
          <p:cNvSpPr/>
          <p:nvPr/>
        </p:nvSpPr>
        <p:spPr>
          <a:xfrm>
            <a:off x="2606040" y="1280160"/>
            <a:ext cx="731520" cy="731520"/>
          </a:xfrm>
          <a:prstGeom prst="ellipse">
            <a:avLst/>
          </a:prstGeom>
          <a:solidFill>
            <a:srgbClr val="17365D"/>
          </a:solidFill>
          <a:ln w="12700">
            <a:solidFill>
              <a:srgbClr val="17365D"/>
            </a:solidFill>
            <a:prstDash val="solid"/>
          </a:ln>
        </p:spPr>
      </p:sp>
      <p:pic>
        <p:nvPicPr>
          <p:cNvPr id="9" name="Image 1" descr="Classify icon">    </p:cNvPr>
          <p:cNvPicPr>
            <a:picLocks noChangeAspect="1"/>
          </p:cNvPicPr>
          <p:nvPr/>
        </p:nvPicPr>
        <p:blipFill>
          <a:blip r:embed="rId2"/>
          <a:stretch>
            <a:fillRect/>
          </a:stretch>
        </p:blipFill>
        <p:spPr>
          <a:xfrm>
            <a:off x="2807208" y="1481328"/>
            <a:ext cx="329184" cy="329184"/>
          </a:xfrm>
          <a:prstGeom prst="rect">
            <a:avLst/>
          </a:prstGeom>
        </p:spPr>
      </p:pic>
      <p:sp>
        <p:nvSpPr>
          <p:cNvPr id="10" name="Step link 2"/>
          <p:cNvSpPr/>
          <p:nvPr/>
        </p:nvSpPr>
        <p:spPr>
          <a:xfrm>
            <a:off x="3429000" y="1645920"/>
            <a:ext cx="1234440" cy="0"/>
          </a:xfrm>
          <a:prstGeom prst="line">
            <a:avLst/>
          </a:prstGeom>
          <a:noFill/>
          <a:ln w="19050">
            <a:solidFill>
              <a:srgbClr val="5F6F82"/>
            </a:solidFill>
            <a:prstDash val="dash"/>
          </a:ln>
        </p:spPr>
      </p:sp>
      <p:sp>
        <p:nvSpPr>
          <p:cNvPr id="11" name="Step head 2"/>
          <p:cNvSpPr txBox="1"/>
          <p:nvPr/>
        </p:nvSpPr>
        <p:spPr>
          <a:xfrm>
            <a:off x="2560320" y="2194560"/>
            <a:ext cx="1920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Classify</a:t>
            </a:r>
            <a:endParaRPr lang="en-US" sz="1800" dirty="0"/>
          </a:p>
        </p:txBody>
      </p:sp>
      <p:sp>
        <p:nvSpPr>
          <p:cNvPr id="12" name="Step body 2"/>
          <p:cNvSpPr txBox="1"/>
          <p:nvPr/>
        </p:nvSpPr>
        <p:spPr>
          <a:xfrm>
            <a:off x="2560320" y="2606040"/>
            <a:ext cx="1828800" cy="1097280"/>
          </a:xfrm>
          <a:prstGeom prst="rect">
            <a:avLst/>
          </a:prstGeom>
          <a:noFill/>
          <a:ln/>
        </p:spPr>
        <p:txBody>
          <a:bodyPr wrap="square" lIns="0" tIns="0" rIns="0" bIns="0" rtlCol="0" anchor="t"/>
          <a:lstStyle/>
          <a:p>
            <a:pPr indent="0" marL="0">
              <a:buNone/>
            </a:pPr>
            <a:r>
              <a:rPr lang="en-US" sz="1400" dirty="0">
                <a:solidFill>
                  <a:schemeClr val="tx1"/>
                </a:solidFill>
              </a:rPr>
              <a:t>Four-level data classification and four-level business criticality from the Classification Guide</a:t>
            </a:r>
            <a:endParaRPr lang="en-US" sz="1400" dirty="0"/>
          </a:p>
        </p:txBody>
      </p:sp>
      <p:sp>
        <p:nvSpPr>
          <p:cNvPr id="13" name="Step circle 3"/>
          <p:cNvSpPr/>
          <p:nvPr/>
        </p:nvSpPr>
        <p:spPr>
          <a:xfrm>
            <a:off x="4709160" y="1280160"/>
            <a:ext cx="731520" cy="731520"/>
          </a:xfrm>
          <a:prstGeom prst="ellipse">
            <a:avLst/>
          </a:prstGeom>
          <a:solidFill>
            <a:srgbClr val="17365D"/>
          </a:solidFill>
          <a:ln w="12700">
            <a:solidFill>
              <a:srgbClr val="17365D"/>
            </a:solidFill>
            <a:prstDash val="solid"/>
          </a:ln>
        </p:spPr>
      </p:sp>
      <p:pic>
        <p:nvPicPr>
          <p:cNvPr id="14" name="Image 2" descr="Assign icon">    </p:cNvPr>
          <p:cNvPicPr>
            <a:picLocks noChangeAspect="1"/>
          </p:cNvPicPr>
          <p:nvPr/>
        </p:nvPicPr>
        <p:blipFill>
          <a:blip r:embed="rId3"/>
          <a:stretch>
            <a:fillRect/>
          </a:stretch>
        </p:blipFill>
        <p:spPr>
          <a:xfrm>
            <a:off x="4910328" y="1481328"/>
            <a:ext cx="329184" cy="329184"/>
          </a:xfrm>
          <a:prstGeom prst="rect">
            <a:avLst/>
          </a:prstGeom>
        </p:spPr>
      </p:pic>
      <p:sp>
        <p:nvSpPr>
          <p:cNvPr id="15" name="Step link 3"/>
          <p:cNvSpPr/>
          <p:nvPr/>
        </p:nvSpPr>
        <p:spPr>
          <a:xfrm>
            <a:off x="5532120" y="1645920"/>
            <a:ext cx="1234440" cy="0"/>
          </a:xfrm>
          <a:prstGeom prst="line">
            <a:avLst/>
          </a:prstGeom>
          <a:noFill/>
          <a:ln w="19050">
            <a:solidFill>
              <a:srgbClr val="5F6F82"/>
            </a:solidFill>
            <a:prstDash val="dash"/>
          </a:ln>
        </p:spPr>
      </p:sp>
      <p:sp>
        <p:nvSpPr>
          <p:cNvPr id="16" name="Step head 3"/>
          <p:cNvSpPr txBox="1"/>
          <p:nvPr/>
        </p:nvSpPr>
        <p:spPr>
          <a:xfrm>
            <a:off x="4663440" y="2194560"/>
            <a:ext cx="1920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Assign</a:t>
            </a:r>
            <a:endParaRPr lang="en-US" sz="1800" dirty="0"/>
          </a:p>
        </p:txBody>
      </p:sp>
      <p:sp>
        <p:nvSpPr>
          <p:cNvPr id="17" name="Step body 3"/>
          <p:cNvSpPr txBox="1"/>
          <p:nvPr/>
        </p:nvSpPr>
        <p:spPr>
          <a:xfrm>
            <a:off x="4663440" y="2606040"/>
            <a:ext cx="1828800" cy="1097280"/>
          </a:xfrm>
          <a:prstGeom prst="rect">
            <a:avLst/>
          </a:prstGeom>
          <a:noFill/>
          <a:ln/>
        </p:spPr>
        <p:txBody>
          <a:bodyPr wrap="square" lIns="0" tIns="0" rIns="0" bIns="0" rtlCol="0" anchor="t"/>
          <a:lstStyle/>
          <a:p>
            <a:pPr indent="0" marL="0">
              <a:buNone/>
            </a:pPr>
            <a:r>
              <a:rPr lang="en-US" sz="1400" dirty="0">
                <a:solidFill>
                  <a:schemeClr val="tx1"/>
                </a:solidFill>
              </a:rPr>
              <a:t>Named owner, custodian and business unit for every asset</a:t>
            </a:r>
            <a:endParaRPr lang="en-US" sz="1400" dirty="0"/>
          </a:p>
        </p:txBody>
      </p:sp>
      <p:sp>
        <p:nvSpPr>
          <p:cNvPr id="18" name="Step circle 4"/>
          <p:cNvSpPr/>
          <p:nvPr/>
        </p:nvSpPr>
        <p:spPr>
          <a:xfrm>
            <a:off x="6812280" y="1280160"/>
            <a:ext cx="731520" cy="731520"/>
          </a:xfrm>
          <a:prstGeom prst="ellipse">
            <a:avLst/>
          </a:prstGeom>
          <a:solidFill>
            <a:srgbClr val="17365D"/>
          </a:solidFill>
          <a:ln w="12700">
            <a:solidFill>
              <a:srgbClr val="17365D"/>
            </a:solidFill>
            <a:prstDash val="solid"/>
          </a:ln>
        </p:spPr>
      </p:sp>
      <p:pic>
        <p:nvPicPr>
          <p:cNvPr id="19" name="Image 3" descr="Assess and review icon">    </p:cNvPr>
          <p:cNvPicPr>
            <a:picLocks noChangeAspect="1"/>
          </p:cNvPicPr>
          <p:nvPr/>
        </p:nvPicPr>
        <p:blipFill>
          <a:blip r:embed="rId4"/>
          <a:stretch>
            <a:fillRect/>
          </a:stretch>
        </p:blipFill>
        <p:spPr>
          <a:xfrm>
            <a:off x="7013448" y="1481328"/>
            <a:ext cx="329184" cy="329184"/>
          </a:xfrm>
          <a:prstGeom prst="rect">
            <a:avLst/>
          </a:prstGeom>
        </p:spPr>
      </p:pic>
      <p:sp>
        <p:nvSpPr>
          <p:cNvPr id="20" name="Step head 4"/>
          <p:cNvSpPr txBox="1"/>
          <p:nvPr/>
        </p:nvSpPr>
        <p:spPr>
          <a:xfrm>
            <a:off x="6766560" y="2194560"/>
            <a:ext cx="1920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Assess and review</a:t>
            </a:r>
            <a:endParaRPr lang="en-US" sz="1800" dirty="0"/>
          </a:p>
        </p:txBody>
      </p:sp>
      <p:sp>
        <p:nvSpPr>
          <p:cNvPr id="21" name="Step body 4"/>
          <p:cNvSpPr txBox="1"/>
          <p:nvPr/>
        </p:nvSpPr>
        <p:spPr>
          <a:xfrm>
            <a:off x="6766560" y="2606040"/>
            <a:ext cx="1828800" cy="1097280"/>
          </a:xfrm>
          <a:prstGeom prst="rect">
            <a:avLst/>
          </a:prstGeom>
          <a:noFill/>
          <a:ln/>
        </p:spPr>
        <p:txBody>
          <a:bodyPr wrap="square" lIns="0" tIns="0" rIns="0" bIns="0" rtlCol="0" anchor="t"/>
          <a:lstStyle/>
          <a:p>
            <a:pPr indent="0" marL="0">
              <a:buNone/>
            </a:pPr>
            <a:r>
              <a:rPr lang="en-US" sz="1400" dirty="0">
                <a:solidFill>
                  <a:schemeClr val="tx1"/>
                </a:solidFill>
              </a:rPr>
              <a:t>Risk level, regulatory relevance, dependencies and a review date</a:t>
            </a:r>
            <a:endParaRPr lang="en-US" sz="1400" dirty="0"/>
          </a:p>
        </p:txBody>
      </p:sp>
      <p:sp>
        <p:nvSpPr>
          <p:cNvPr id="22" name="Fields strip"/>
          <p:cNvSpPr/>
          <p:nvPr/>
        </p:nvSpPr>
        <p:spPr>
          <a:xfrm>
            <a:off x="457200" y="3840480"/>
            <a:ext cx="8229600" cy="777240"/>
          </a:xfrm>
          <a:prstGeom prst="roundRect">
            <a:avLst>
              <a:gd name="adj" fmla="val 9412"/>
            </a:avLst>
          </a:prstGeom>
          <a:solidFill>
            <a:schemeClr val="bg2"/>
          </a:solidFill>
          <a:ln w="12700">
            <a:solidFill>
              <a:schemeClr val="bg2"/>
            </a:solidFill>
            <a:prstDash val="solid"/>
          </a:ln>
        </p:spPr>
      </p:sp>
      <p:sp>
        <p:nvSpPr>
          <p:cNvPr id="23" name="Fields text"/>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200" b="1" dirty="0">
                <a:solidFill>
                  <a:schemeClr val="tx1"/>
                </a:solidFill>
              </a:rPr>
              <a:t>14 required fields per asset: </a:t>
            </a:r>
            <a:pPr indent="0" marL="0">
              <a:buNone/>
            </a:pPr>
            <a:r>
              <a:rPr lang="en-US" sz="1200" dirty="0">
                <a:solidFill>
                  <a:schemeClr val="tx1"/>
                </a:solidFill>
              </a:rPr>
              <a:t>ID, name, description, category, owner, custodian, business unit, classification, criticality, location, regulatory relevance, dependencies, risk level, review date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register at a glance</a:t>
            </a:r>
            <a:endParaRPr lang="en-US" sz="3000" dirty="0"/>
          </a:p>
        </p:txBody>
      </p:sp>
      <p:sp>
        <p:nvSpPr>
          <p:cNvPr id="3" name="Stat card 1"/>
          <p:cNvSpPr/>
          <p:nvPr/>
        </p:nvSpPr>
        <p:spPr>
          <a:xfrm>
            <a:off x="457200" y="1280160"/>
            <a:ext cx="1828800" cy="1417320"/>
          </a:xfrm>
          <a:prstGeom prst="roundRect">
            <a:avLst>
              <a:gd name="adj" fmla="val 5161"/>
            </a:avLst>
          </a:prstGeom>
          <a:solidFill>
            <a:schemeClr val="bg2"/>
          </a:solidFill>
          <a:ln w="12700">
            <a:solidFill>
              <a:schemeClr val="bg2"/>
            </a:solidFill>
            <a:prstDash val="solid"/>
          </a:ln>
        </p:spPr>
      </p:sp>
      <p:sp>
        <p:nvSpPr>
          <p:cNvPr id="4" name="Stat value 1"/>
          <p:cNvSpPr txBox="1"/>
          <p:nvPr/>
        </p:nvSpPr>
        <p:spPr>
          <a:xfrm>
            <a:off x="640080" y="1389888"/>
            <a:ext cx="146304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45</a:t>
            </a:r>
            <a:endParaRPr lang="en-US" sz="4000" dirty="0"/>
          </a:p>
        </p:txBody>
      </p:sp>
      <p:sp>
        <p:nvSpPr>
          <p:cNvPr id="5" name="Stat label 1"/>
          <p:cNvSpPr txBox="1"/>
          <p:nvPr/>
        </p:nvSpPr>
        <p:spPr>
          <a:xfrm>
            <a:off x="640080" y="2148840"/>
            <a:ext cx="1508760" cy="457200"/>
          </a:xfrm>
          <a:prstGeom prst="rect">
            <a:avLst/>
          </a:prstGeom>
          <a:noFill/>
          <a:ln/>
        </p:spPr>
        <p:txBody>
          <a:bodyPr wrap="square" lIns="0" tIns="0" rIns="0" bIns="0" rtlCol="0" anchor="t"/>
          <a:lstStyle/>
          <a:p>
            <a:pPr indent="0" marL="0">
              <a:buNone/>
            </a:pPr>
            <a:r>
              <a:rPr lang="en-US" sz="1400" dirty="0">
                <a:solidFill>
                  <a:schemeClr val="tx1"/>
                </a:solidFill>
              </a:rPr>
              <a:t>assets registered</a:t>
            </a:r>
            <a:endParaRPr lang="en-US" sz="1400" dirty="0"/>
          </a:p>
        </p:txBody>
      </p:sp>
      <p:sp>
        <p:nvSpPr>
          <p:cNvPr id="6" name="Stat card 2"/>
          <p:cNvSpPr/>
          <p:nvPr/>
        </p:nvSpPr>
        <p:spPr>
          <a:xfrm>
            <a:off x="2423160" y="1280160"/>
            <a:ext cx="1828800" cy="1417320"/>
          </a:xfrm>
          <a:prstGeom prst="roundRect">
            <a:avLst>
              <a:gd name="adj" fmla="val 5161"/>
            </a:avLst>
          </a:prstGeom>
          <a:solidFill>
            <a:schemeClr val="bg2"/>
          </a:solidFill>
          <a:ln w="12700">
            <a:solidFill>
              <a:schemeClr val="bg2"/>
            </a:solidFill>
            <a:prstDash val="solid"/>
          </a:ln>
        </p:spPr>
      </p:sp>
      <p:sp>
        <p:nvSpPr>
          <p:cNvPr id="7" name="Stat value 2"/>
          <p:cNvSpPr txBox="1"/>
          <p:nvPr/>
        </p:nvSpPr>
        <p:spPr>
          <a:xfrm>
            <a:off x="2606040" y="1389888"/>
            <a:ext cx="146304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8</a:t>
            </a:r>
            <a:endParaRPr lang="en-US" sz="4000" dirty="0"/>
          </a:p>
        </p:txBody>
      </p:sp>
      <p:sp>
        <p:nvSpPr>
          <p:cNvPr id="8" name="Stat label 2"/>
          <p:cNvSpPr txBox="1"/>
          <p:nvPr/>
        </p:nvSpPr>
        <p:spPr>
          <a:xfrm>
            <a:off x="2606040" y="2148840"/>
            <a:ext cx="1508760" cy="457200"/>
          </a:xfrm>
          <a:prstGeom prst="rect">
            <a:avLst/>
          </a:prstGeom>
          <a:noFill/>
          <a:ln/>
        </p:spPr>
        <p:txBody>
          <a:bodyPr wrap="square" lIns="0" tIns="0" rIns="0" bIns="0" rtlCol="0" anchor="t"/>
          <a:lstStyle/>
          <a:p>
            <a:pPr indent="0" marL="0">
              <a:buNone/>
            </a:pPr>
            <a:r>
              <a:rPr lang="en-US" sz="1400" dirty="0">
                <a:solidFill>
                  <a:schemeClr val="tx1"/>
                </a:solidFill>
              </a:rPr>
              <a:t>from PayStream Analytics</a:t>
            </a:r>
            <a:endParaRPr lang="en-US" sz="1400" dirty="0"/>
          </a:p>
        </p:txBody>
      </p:sp>
      <p:sp>
        <p:nvSpPr>
          <p:cNvPr id="9" name="Stat card 3"/>
          <p:cNvSpPr/>
          <p:nvPr/>
        </p:nvSpPr>
        <p:spPr>
          <a:xfrm>
            <a:off x="457200" y="2880360"/>
            <a:ext cx="1828800" cy="1417320"/>
          </a:xfrm>
          <a:prstGeom prst="roundRect">
            <a:avLst>
              <a:gd name="adj" fmla="val 5161"/>
            </a:avLst>
          </a:prstGeom>
          <a:solidFill>
            <a:schemeClr val="bg2"/>
          </a:solidFill>
          <a:ln w="12700">
            <a:solidFill>
              <a:schemeClr val="bg2"/>
            </a:solidFill>
            <a:prstDash val="solid"/>
          </a:ln>
        </p:spPr>
      </p:sp>
      <p:sp>
        <p:nvSpPr>
          <p:cNvPr id="10" name="Stat value 3"/>
          <p:cNvSpPr txBox="1"/>
          <p:nvPr/>
        </p:nvSpPr>
        <p:spPr>
          <a:xfrm>
            <a:off x="640080" y="2990088"/>
            <a:ext cx="146304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13</a:t>
            </a:r>
            <a:endParaRPr lang="en-US" sz="4000" dirty="0"/>
          </a:p>
        </p:txBody>
      </p:sp>
      <p:sp>
        <p:nvSpPr>
          <p:cNvPr id="11" name="Stat label 3"/>
          <p:cNvSpPr txBox="1"/>
          <p:nvPr/>
        </p:nvSpPr>
        <p:spPr>
          <a:xfrm>
            <a:off x="640080" y="3749040"/>
            <a:ext cx="1508760" cy="457200"/>
          </a:xfrm>
          <a:prstGeom prst="rect">
            <a:avLst/>
          </a:prstGeom>
          <a:noFill/>
          <a:ln/>
        </p:spPr>
        <p:txBody>
          <a:bodyPr wrap="square" lIns="0" tIns="0" rIns="0" bIns="0" rtlCol="0" anchor="t"/>
          <a:lstStyle/>
          <a:p>
            <a:pPr indent="0" marL="0">
              <a:buNone/>
            </a:pPr>
            <a:r>
              <a:rPr lang="en-US" sz="1400" dirty="0">
                <a:solidFill>
                  <a:schemeClr val="tx1"/>
                </a:solidFill>
              </a:rPr>
              <a:t>Restricted data assets</a:t>
            </a:r>
            <a:endParaRPr lang="en-US" sz="1400" dirty="0"/>
          </a:p>
        </p:txBody>
      </p:sp>
      <p:sp>
        <p:nvSpPr>
          <p:cNvPr id="12" name="Stat card 4"/>
          <p:cNvSpPr/>
          <p:nvPr/>
        </p:nvSpPr>
        <p:spPr>
          <a:xfrm>
            <a:off x="2423160" y="2880360"/>
            <a:ext cx="1828800" cy="1417320"/>
          </a:xfrm>
          <a:prstGeom prst="roundRect">
            <a:avLst>
              <a:gd name="adj" fmla="val 5161"/>
            </a:avLst>
          </a:prstGeom>
          <a:solidFill>
            <a:schemeClr val="bg2"/>
          </a:solidFill>
          <a:ln w="12700">
            <a:solidFill>
              <a:schemeClr val="bg2"/>
            </a:solidFill>
            <a:prstDash val="solid"/>
          </a:ln>
        </p:spPr>
      </p:sp>
      <p:sp>
        <p:nvSpPr>
          <p:cNvPr id="13" name="Stat value 4"/>
          <p:cNvSpPr txBox="1"/>
          <p:nvPr/>
        </p:nvSpPr>
        <p:spPr>
          <a:xfrm>
            <a:off x="2606040" y="2990088"/>
            <a:ext cx="146304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28</a:t>
            </a:r>
            <a:endParaRPr lang="en-US" sz="4000" dirty="0"/>
          </a:p>
        </p:txBody>
      </p:sp>
      <p:sp>
        <p:nvSpPr>
          <p:cNvPr id="14" name="Stat label 4"/>
          <p:cNvSpPr txBox="1"/>
          <p:nvPr/>
        </p:nvSpPr>
        <p:spPr>
          <a:xfrm>
            <a:off x="2606040" y="3749040"/>
            <a:ext cx="1508760" cy="457200"/>
          </a:xfrm>
          <a:prstGeom prst="rect">
            <a:avLst/>
          </a:prstGeom>
          <a:noFill/>
          <a:ln/>
        </p:spPr>
        <p:txBody>
          <a:bodyPr wrap="square" lIns="0" tIns="0" rIns="0" bIns="0" rtlCol="0" anchor="t"/>
          <a:lstStyle/>
          <a:p>
            <a:pPr indent="0" marL="0">
              <a:buNone/>
            </a:pPr>
            <a:r>
              <a:rPr lang="en-US" sz="1400" dirty="0">
                <a:solidFill>
                  <a:schemeClr val="tx1"/>
                </a:solidFill>
              </a:rPr>
              <a:t>rated Critical</a:t>
            </a:r>
            <a:endParaRPr lang="en-US" sz="1400" dirty="0"/>
          </a:p>
        </p:txBody>
      </p:sp>
      <p:graphicFrame>
        <p:nvGraphicFramePr>
          <p:cNvPr id="15" name="Chart 0" descr=""/>
          <p:cNvGraphicFramePr/>
          <p:nvPr/>
        </p:nvGraphicFramePr>
        <p:xfrm>
          <a:off x="4526280" y="1188720"/>
          <a:ext cx="420624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Most critical assets carry high risk</a:t>
            </a:r>
            <a:endParaRPr lang="en-US" sz="3000" dirty="0"/>
          </a:p>
        </p:txBody>
      </p:sp>
      <p:graphicFrame>
        <p:nvGraphicFramePr>
          <p:cNvPr id="3" name="Chart 0" descr=""/>
          <p:cNvGraphicFramePr/>
          <p:nvPr/>
        </p:nvGraphicFramePr>
        <p:xfrm>
          <a:off x="457200" y="118872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Risk card 1"/>
          <p:cNvSpPr/>
          <p:nvPr/>
        </p:nvSpPr>
        <p:spPr>
          <a:xfrm>
            <a:off x="5669280" y="1280160"/>
            <a:ext cx="3017520" cy="1417320"/>
          </a:xfrm>
          <a:prstGeom prst="roundRect">
            <a:avLst>
              <a:gd name="adj" fmla="val 5161"/>
            </a:avLst>
          </a:prstGeom>
          <a:solidFill>
            <a:schemeClr val="bg2"/>
          </a:solidFill>
          <a:ln w="12700">
            <a:solidFill>
              <a:schemeClr val="bg2"/>
            </a:solidFill>
            <a:prstDash val="solid"/>
          </a:ln>
        </p:spPr>
      </p:sp>
      <p:sp>
        <p:nvSpPr>
          <p:cNvPr id="5" name="Risk stat 1"/>
          <p:cNvSpPr txBox="1"/>
          <p:nvPr/>
        </p:nvSpPr>
        <p:spPr>
          <a:xfrm>
            <a:off x="5852160" y="1371600"/>
            <a:ext cx="2651760" cy="64008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27 of 45</a:t>
            </a:r>
            <a:endParaRPr lang="en-US" sz="3600" dirty="0"/>
          </a:p>
        </p:txBody>
      </p:sp>
      <p:sp>
        <p:nvSpPr>
          <p:cNvPr id="6" name="Risk label 1"/>
          <p:cNvSpPr txBox="1"/>
          <p:nvPr/>
        </p:nvSpPr>
        <p:spPr>
          <a:xfrm>
            <a:off x="5852160" y="2011680"/>
            <a:ext cx="2697480" cy="640080"/>
          </a:xfrm>
          <a:prstGeom prst="rect">
            <a:avLst/>
          </a:prstGeom>
          <a:noFill/>
          <a:ln/>
        </p:spPr>
        <p:txBody>
          <a:bodyPr wrap="square" lIns="0" tIns="0" rIns="0" bIns="0" rtlCol="0" anchor="t"/>
          <a:lstStyle/>
          <a:p>
            <a:pPr indent="0" marL="0">
              <a:buNone/>
            </a:pPr>
            <a:r>
              <a:rPr lang="en-US" sz="1400" dirty="0">
                <a:solidFill>
                  <a:schemeClr val="tx1"/>
                </a:solidFill>
              </a:rPr>
              <a:t>assets (60%) are rated High risk and need formal treatment</a:t>
            </a:r>
            <a:endParaRPr lang="en-US" sz="1400" dirty="0"/>
          </a:p>
        </p:txBody>
      </p:sp>
      <p:sp>
        <p:nvSpPr>
          <p:cNvPr id="7" name="Risk card 2"/>
          <p:cNvSpPr/>
          <p:nvPr/>
        </p:nvSpPr>
        <p:spPr>
          <a:xfrm>
            <a:off x="5669280" y="2880360"/>
            <a:ext cx="3017520" cy="1417320"/>
          </a:xfrm>
          <a:prstGeom prst="roundRect">
            <a:avLst>
              <a:gd name="adj" fmla="val 5161"/>
            </a:avLst>
          </a:prstGeom>
          <a:solidFill>
            <a:schemeClr val="bg2"/>
          </a:solidFill>
          <a:ln w="12700">
            <a:solidFill>
              <a:schemeClr val="bg2"/>
            </a:solidFill>
            <a:prstDash val="solid"/>
          </a:ln>
        </p:spPr>
      </p:sp>
      <p:sp>
        <p:nvSpPr>
          <p:cNvPr id="8" name="Risk stat 2"/>
          <p:cNvSpPr txBox="1"/>
          <p:nvPr/>
        </p:nvSpPr>
        <p:spPr>
          <a:xfrm>
            <a:off x="5852160" y="2971800"/>
            <a:ext cx="2651760" cy="64008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23 of 28</a:t>
            </a:r>
            <a:endParaRPr lang="en-US" sz="3600" dirty="0"/>
          </a:p>
        </p:txBody>
      </p:sp>
      <p:sp>
        <p:nvSpPr>
          <p:cNvPr id="9" name="Risk label 2"/>
          <p:cNvSpPr txBox="1"/>
          <p:nvPr/>
        </p:nvSpPr>
        <p:spPr>
          <a:xfrm>
            <a:off x="5852160" y="3611880"/>
            <a:ext cx="2697480" cy="640080"/>
          </a:xfrm>
          <a:prstGeom prst="rect">
            <a:avLst/>
          </a:prstGeom>
          <a:noFill/>
          <a:ln/>
        </p:spPr>
        <p:txBody>
          <a:bodyPr wrap="square" lIns="0" tIns="0" rIns="0" bIns="0" rtlCol="0" anchor="t"/>
          <a:lstStyle/>
          <a:p>
            <a:pPr indent="0" marL="0">
              <a:buNone/>
            </a:pPr>
            <a:r>
              <a:rPr lang="en-US" sz="1400" dirty="0">
                <a:solidFill>
                  <a:schemeClr val="tx1"/>
                </a:solidFill>
              </a:rPr>
              <a:t>Critical assets are also rated High risk</a:t>
            </a:r>
            <a:endParaRPr lang="en-US" sz="1400" dirty="0"/>
          </a:p>
        </p:txBody>
      </p:sp>
      <p:sp>
        <p:nvSpPr>
          <p:cNvPr id="10" name="Risk footnote"/>
          <p:cNvSpPr txBox="1"/>
          <p:nvPr/>
        </p:nvSpPr>
        <p:spPr>
          <a:xfrm>
            <a:off x="457200" y="4645152"/>
            <a:ext cx="5943600" cy="274320"/>
          </a:xfrm>
          <a:prstGeom prst="rect">
            <a:avLst/>
          </a:prstGeom>
          <a:noFill/>
          <a:ln/>
        </p:spPr>
        <p:txBody>
          <a:bodyPr wrap="square" lIns="0" tIns="0" rIns="0" bIns="0" rtlCol="0" anchor="ctr"/>
          <a:lstStyle/>
          <a:p>
            <a:pPr indent="0" marL="0">
              <a:buNone/>
            </a:pPr>
            <a:r>
              <a:rPr lang="en-US" sz="1000" i="1" dirty="0">
                <a:solidFill>
                  <a:srgbClr val="5F6F82"/>
                </a:solidFill>
              </a:rPr>
              <a:t>Risk levels are initial judgments pending formal risk assessment.</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Four findings for the ISSC</a:t>
            </a:r>
            <a:endParaRPr lang="en-US" sz="3000" dirty="0"/>
          </a:p>
        </p:txBody>
      </p:sp>
      <p:sp>
        <p:nvSpPr>
          <p:cNvPr id="3" name="Finding card 1"/>
          <p:cNvSpPr/>
          <p:nvPr/>
        </p:nvSpPr>
        <p:spPr>
          <a:xfrm>
            <a:off x="457200" y="1234440"/>
            <a:ext cx="4023360" cy="1554480"/>
          </a:xfrm>
          <a:prstGeom prst="roundRect">
            <a:avLst>
              <a:gd name="adj" fmla="val 4706"/>
            </a:avLst>
          </a:prstGeom>
          <a:solidFill>
            <a:schemeClr val="bg2"/>
          </a:solidFill>
          <a:ln w="12700">
            <a:solidFill>
              <a:schemeClr val="bg2"/>
            </a:solidFill>
            <a:prstDash val="solid"/>
          </a:ln>
        </p:spPr>
      </p:sp>
      <p:sp>
        <p:nvSpPr>
          <p:cNvPr id="4" name="Finding icon bg 1"/>
          <p:cNvSpPr/>
          <p:nvPr/>
        </p:nvSpPr>
        <p:spPr>
          <a:xfrm>
            <a:off x="640080" y="1417320"/>
            <a:ext cx="548640" cy="548640"/>
          </a:xfrm>
          <a:prstGeom prst="ellipse">
            <a:avLst/>
          </a:prstGeom>
          <a:solidFill>
            <a:srgbClr val="17365D"/>
          </a:solidFill>
          <a:ln w="12700">
            <a:solidFill>
              <a:srgbClr val="17365D"/>
            </a:solidFill>
            <a:prstDash val="solid"/>
          </a:ln>
        </p:spPr>
      </p:sp>
      <p:pic>
        <p:nvPicPr>
          <p:cNvPr id="5" name="Image 0" descr="finding icon">    </p:cNvPr>
          <p:cNvPicPr>
            <a:picLocks noChangeAspect="1"/>
          </p:cNvPicPr>
          <p:nvPr/>
        </p:nvPicPr>
        <p:blipFill>
          <a:blip r:embed="rId1"/>
          <a:stretch>
            <a:fillRect/>
          </a:stretch>
        </p:blipFill>
        <p:spPr>
          <a:xfrm>
            <a:off x="777240" y="1554480"/>
            <a:ext cx="274320" cy="274320"/>
          </a:xfrm>
          <a:prstGeom prst="rect">
            <a:avLst/>
          </a:prstGeom>
        </p:spPr>
      </p:pic>
      <p:sp>
        <p:nvSpPr>
          <p:cNvPr id="6" name="Finding stat 1"/>
          <p:cNvSpPr txBox="1"/>
          <p:nvPr/>
        </p:nvSpPr>
        <p:spPr>
          <a:xfrm>
            <a:off x="1371600" y="14173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9 and 9</a:t>
            </a:r>
            <a:endParaRPr lang="en-US" sz="2400" dirty="0"/>
          </a:p>
        </p:txBody>
      </p:sp>
      <p:sp>
        <p:nvSpPr>
          <p:cNvPr id="7" name="Finding text 1"/>
          <p:cNvSpPr txBox="1"/>
          <p:nvPr/>
        </p:nvSpPr>
        <p:spPr>
          <a:xfrm>
            <a:off x="640080" y="2057400"/>
            <a:ext cx="3657600" cy="685800"/>
          </a:xfrm>
          <a:prstGeom prst="rect">
            <a:avLst/>
          </a:prstGeom>
          <a:noFill/>
          <a:ln/>
        </p:spPr>
        <p:txBody>
          <a:bodyPr wrap="square" lIns="0" tIns="0" rIns="0" bIns="0" rtlCol="0" anchor="t"/>
          <a:lstStyle/>
          <a:p>
            <a:pPr indent="0" marL="0">
              <a:buNone/>
            </a:pPr>
            <a:r>
              <a:rPr lang="en-US" sz="1400" dirty="0">
                <a:solidFill>
                  <a:schemeClr val="tx1"/>
                </a:solidFill>
              </a:rPr>
              <a:t>AWS Production Account and Microsoft Entra ID each support nine other assets, so they are single points of concentration.</a:t>
            </a:r>
            <a:endParaRPr lang="en-US" sz="1400" dirty="0"/>
          </a:p>
        </p:txBody>
      </p:sp>
      <p:sp>
        <p:nvSpPr>
          <p:cNvPr id="8" name="Finding card 2"/>
          <p:cNvSpPr/>
          <p:nvPr/>
        </p:nvSpPr>
        <p:spPr>
          <a:xfrm>
            <a:off x="4663440" y="1234440"/>
            <a:ext cx="4023360" cy="1554480"/>
          </a:xfrm>
          <a:prstGeom prst="roundRect">
            <a:avLst>
              <a:gd name="adj" fmla="val 4706"/>
            </a:avLst>
          </a:prstGeom>
          <a:solidFill>
            <a:schemeClr val="bg2"/>
          </a:solidFill>
          <a:ln w="12700">
            <a:solidFill>
              <a:schemeClr val="bg2"/>
            </a:solidFill>
            <a:prstDash val="solid"/>
          </a:ln>
        </p:spPr>
      </p:sp>
      <p:sp>
        <p:nvSpPr>
          <p:cNvPr id="9" name="Finding icon bg 2"/>
          <p:cNvSpPr/>
          <p:nvPr/>
        </p:nvSpPr>
        <p:spPr>
          <a:xfrm>
            <a:off x="4846320" y="1417320"/>
            <a:ext cx="548640" cy="548640"/>
          </a:xfrm>
          <a:prstGeom prst="ellipse">
            <a:avLst/>
          </a:prstGeom>
          <a:solidFill>
            <a:srgbClr val="17365D"/>
          </a:solidFill>
          <a:ln w="12700">
            <a:solidFill>
              <a:srgbClr val="17365D"/>
            </a:solidFill>
            <a:prstDash val="solid"/>
          </a:ln>
        </p:spPr>
      </p:sp>
      <p:pic>
        <p:nvPicPr>
          <p:cNvPr id="10" name="Image 1" descr="finding icon">    </p:cNvPr>
          <p:cNvPicPr>
            <a:picLocks noChangeAspect="1"/>
          </p:cNvPicPr>
          <p:nvPr/>
        </p:nvPicPr>
        <p:blipFill>
          <a:blip r:embed="rId2"/>
          <a:stretch>
            <a:fillRect/>
          </a:stretch>
        </p:blipFill>
        <p:spPr>
          <a:xfrm>
            <a:off x="4983480" y="1554480"/>
            <a:ext cx="274320" cy="274320"/>
          </a:xfrm>
          <a:prstGeom prst="rect">
            <a:avLst/>
          </a:prstGeom>
        </p:spPr>
      </p:pic>
      <p:sp>
        <p:nvSpPr>
          <p:cNvPr id="11" name="Finding stat 2"/>
          <p:cNvSpPr txBox="1"/>
          <p:nvPr/>
        </p:nvSpPr>
        <p:spPr>
          <a:xfrm>
            <a:off x="5577840" y="14173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14 of 45</a:t>
            </a:r>
            <a:endParaRPr lang="en-US" sz="2400" dirty="0"/>
          </a:p>
        </p:txBody>
      </p:sp>
      <p:sp>
        <p:nvSpPr>
          <p:cNvPr id="12" name="Finding text 2"/>
          <p:cNvSpPr txBox="1"/>
          <p:nvPr/>
        </p:nvSpPr>
        <p:spPr>
          <a:xfrm>
            <a:off x="4846320" y="2057400"/>
            <a:ext cx="3657600" cy="685800"/>
          </a:xfrm>
          <a:prstGeom prst="rect">
            <a:avLst/>
          </a:prstGeom>
          <a:noFill/>
          <a:ln/>
        </p:spPr>
        <p:txBody>
          <a:bodyPr wrap="square" lIns="0" tIns="0" rIns="0" bIns="0" rtlCol="0" anchor="t"/>
          <a:lstStyle/>
          <a:p>
            <a:pPr indent="0" marL="0">
              <a:buNone/>
            </a:pPr>
            <a:r>
              <a:rPr lang="en-US" sz="1400" dirty="0">
                <a:solidFill>
                  <a:schemeClr val="tx1"/>
                </a:solidFill>
              </a:rPr>
              <a:t>assets (31%) sit in the HQ data center or server room, with one recorded DR site as the fallback.</a:t>
            </a:r>
            <a:endParaRPr lang="en-US" sz="1400" dirty="0"/>
          </a:p>
        </p:txBody>
      </p:sp>
      <p:sp>
        <p:nvSpPr>
          <p:cNvPr id="13" name="Finding card 3"/>
          <p:cNvSpPr/>
          <p:nvPr/>
        </p:nvSpPr>
        <p:spPr>
          <a:xfrm>
            <a:off x="457200" y="2926080"/>
            <a:ext cx="4023360" cy="1554480"/>
          </a:xfrm>
          <a:prstGeom prst="roundRect">
            <a:avLst>
              <a:gd name="adj" fmla="val 4706"/>
            </a:avLst>
          </a:prstGeom>
          <a:solidFill>
            <a:schemeClr val="bg2"/>
          </a:solidFill>
          <a:ln w="12700">
            <a:solidFill>
              <a:schemeClr val="bg2"/>
            </a:solidFill>
            <a:prstDash val="solid"/>
          </a:ln>
        </p:spPr>
      </p:sp>
      <p:sp>
        <p:nvSpPr>
          <p:cNvPr id="14" name="Finding icon bg 3"/>
          <p:cNvSpPr/>
          <p:nvPr/>
        </p:nvSpPr>
        <p:spPr>
          <a:xfrm>
            <a:off x="640080" y="3108960"/>
            <a:ext cx="548640" cy="548640"/>
          </a:xfrm>
          <a:prstGeom prst="ellipse">
            <a:avLst/>
          </a:prstGeom>
          <a:solidFill>
            <a:srgbClr val="17365D"/>
          </a:solidFill>
          <a:ln w="12700">
            <a:solidFill>
              <a:srgbClr val="17365D"/>
            </a:solidFill>
            <a:prstDash val="solid"/>
          </a:ln>
        </p:spPr>
      </p:sp>
      <p:pic>
        <p:nvPicPr>
          <p:cNvPr id="15" name="Image 2" descr="finding icon">    </p:cNvPr>
          <p:cNvPicPr>
            <a:picLocks noChangeAspect="1"/>
          </p:cNvPicPr>
          <p:nvPr/>
        </p:nvPicPr>
        <p:blipFill>
          <a:blip r:embed="rId3"/>
          <a:stretch>
            <a:fillRect/>
          </a:stretch>
        </p:blipFill>
        <p:spPr>
          <a:xfrm>
            <a:off x="777240" y="3246120"/>
            <a:ext cx="274320" cy="274320"/>
          </a:xfrm>
          <a:prstGeom prst="rect">
            <a:avLst/>
          </a:prstGeom>
        </p:spPr>
      </p:pic>
      <p:sp>
        <p:nvSpPr>
          <p:cNvPr id="16" name="Finding stat 3"/>
          <p:cNvSpPr txBox="1"/>
          <p:nvPr/>
        </p:nvSpPr>
        <p:spPr>
          <a:xfrm>
            <a:off x="1371600" y="310896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23 critical</a:t>
            </a:r>
            <a:endParaRPr lang="en-US" sz="2400" dirty="0"/>
          </a:p>
        </p:txBody>
      </p:sp>
      <p:sp>
        <p:nvSpPr>
          <p:cNvPr id="17" name="Finding text 3"/>
          <p:cNvSpPr txBox="1"/>
          <p:nvPr/>
        </p:nvSpPr>
        <p:spPr>
          <a:xfrm>
            <a:off x="640080" y="3749040"/>
            <a:ext cx="3657600" cy="685800"/>
          </a:xfrm>
          <a:prstGeom prst="rect">
            <a:avLst/>
          </a:prstGeom>
          <a:noFill/>
          <a:ln/>
        </p:spPr>
        <p:txBody>
          <a:bodyPr wrap="square" lIns="0" tIns="0" rIns="0" bIns="0" rtlCol="0" anchor="t"/>
          <a:lstStyle/>
          <a:p>
            <a:pPr indent="0" marL="0">
              <a:buNone/>
            </a:pPr>
            <a:r>
              <a:rPr lang="en-US" sz="1400" dirty="0">
                <a:solidFill>
                  <a:schemeClr val="tx1"/>
                </a:solidFill>
              </a:rPr>
              <a:t>assets are rated High risk, which calls for formal risk treatment under the guide.</a:t>
            </a:r>
            <a:endParaRPr lang="en-US" sz="1400" dirty="0"/>
          </a:p>
        </p:txBody>
      </p:sp>
      <p:sp>
        <p:nvSpPr>
          <p:cNvPr id="18" name="Finding card 4"/>
          <p:cNvSpPr/>
          <p:nvPr/>
        </p:nvSpPr>
        <p:spPr>
          <a:xfrm>
            <a:off x="4663440" y="2926080"/>
            <a:ext cx="4023360" cy="1554480"/>
          </a:xfrm>
          <a:prstGeom prst="roundRect">
            <a:avLst>
              <a:gd name="adj" fmla="val 4706"/>
            </a:avLst>
          </a:prstGeom>
          <a:solidFill>
            <a:schemeClr val="bg2"/>
          </a:solidFill>
          <a:ln w="12700">
            <a:solidFill>
              <a:schemeClr val="bg2"/>
            </a:solidFill>
            <a:prstDash val="solid"/>
          </a:ln>
        </p:spPr>
      </p:sp>
      <p:sp>
        <p:nvSpPr>
          <p:cNvPr id="19" name="Finding icon bg 4"/>
          <p:cNvSpPr/>
          <p:nvPr/>
        </p:nvSpPr>
        <p:spPr>
          <a:xfrm>
            <a:off x="4846320" y="3108960"/>
            <a:ext cx="548640" cy="548640"/>
          </a:xfrm>
          <a:prstGeom prst="ellipse">
            <a:avLst/>
          </a:prstGeom>
          <a:solidFill>
            <a:srgbClr val="17365D"/>
          </a:solidFill>
          <a:ln w="12700">
            <a:solidFill>
              <a:srgbClr val="17365D"/>
            </a:solidFill>
            <a:prstDash val="solid"/>
          </a:ln>
        </p:spPr>
      </p:sp>
      <p:pic>
        <p:nvPicPr>
          <p:cNvPr id="20" name="Image 3" descr="finding icon">    </p:cNvPr>
          <p:cNvPicPr>
            <a:picLocks noChangeAspect="1"/>
          </p:cNvPicPr>
          <p:nvPr/>
        </p:nvPicPr>
        <p:blipFill>
          <a:blip r:embed="rId4"/>
          <a:stretch>
            <a:fillRect/>
          </a:stretch>
        </p:blipFill>
        <p:spPr>
          <a:xfrm>
            <a:off x="4983480" y="3246120"/>
            <a:ext cx="274320" cy="274320"/>
          </a:xfrm>
          <a:prstGeom prst="rect">
            <a:avLst/>
          </a:prstGeom>
        </p:spPr>
      </p:pic>
      <p:sp>
        <p:nvSpPr>
          <p:cNvPr id="21" name="Finding stat 4"/>
          <p:cNvSpPr txBox="1"/>
          <p:nvPr/>
        </p:nvSpPr>
        <p:spPr>
          <a:xfrm>
            <a:off x="5577840" y="310896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5 owners</a:t>
            </a:r>
            <a:endParaRPr lang="en-US" sz="2400" dirty="0"/>
          </a:p>
        </p:txBody>
      </p:sp>
      <p:sp>
        <p:nvSpPr>
          <p:cNvPr id="22" name="Finding text 4"/>
          <p:cNvSpPr txBox="1"/>
          <p:nvPr/>
        </p:nvSpPr>
        <p:spPr>
          <a:xfrm>
            <a:off x="4846320" y="3749040"/>
            <a:ext cx="3657600" cy="685800"/>
          </a:xfrm>
          <a:prstGeom prst="rect">
            <a:avLst/>
          </a:prstGeom>
          <a:noFill/>
          <a:ln/>
        </p:spPr>
        <p:txBody>
          <a:bodyPr wrap="square" lIns="0" tIns="0" rIns="0" bIns="0" rtlCol="0" anchor="t"/>
          <a:lstStyle/>
          <a:p>
            <a:pPr indent="0" marL="0">
              <a:buNone/>
            </a:pPr>
            <a:r>
              <a:rPr lang="en-US" sz="1400" dirty="0">
                <a:solidFill>
                  <a:schemeClr val="tx1"/>
                </a:solidFill>
              </a:rPr>
              <a:t>hold 26 of 45 assets (58%), so accountability rests with a few managers.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PayStream: first tranche recorded</a:t>
            </a:r>
            <a:endParaRPr lang="en-US" sz="3000" dirty="0"/>
          </a:p>
        </p:txBody>
      </p:sp>
      <p:sp>
        <p:nvSpPr>
          <p:cNvPr id="3" name="PayStream stat"/>
          <p:cNvSpPr txBox="1"/>
          <p:nvPr/>
        </p:nvSpPr>
        <p:spPr>
          <a:xfrm>
            <a:off x="457200" y="1234440"/>
            <a:ext cx="3657600" cy="73152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8 of 40+</a:t>
            </a:r>
            <a:endParaRPr lang="en-US" sz="4400" dirty="0"/>
          </a:p>
        </p:txBody>
      </p:sp>
      <p:sp>
        <p:nvSpPr>
          <p:cNvPr id="4" name="PayStream stat label"/>
          <p:cNvSpPr txBox="1"/>
          <p:nvPr/>
        </p:nvSpPr>
        <p:spPr>
          <a:xfrm>
            <a:off x="457200" y="1965960"/>
            <a:ext cx="3657600" cy="365760"/>
          </a:xfrm>
          <a:prstGeom prst="rect">
            <a:avLst/>
          </a:prstGeom>
          <a:noFill/>
          <a:ln/>
        </p:spPr>
        <p:txBody>
          <a:bodyPr wrap="square" lIns="0" tIns="0" rIns="0" bIns="0" rtlCol="0" anchor="ctr"/>
          <a:lstStyle/>
          <a:p>
            <a:pPr indent="0" marL="0">
              <a:buNone/>
            </a:pPr>
            <a:r>
              <a:rPr lang="en-US" sz="1400" dirty="0">
                <a:solidFill>
                  <a:schemeClr val="tx1"/>
                </a:solidFill>
              </a:rPr>
              <a:t>assets recorded; 32 or more still to discover</a:t>
            </a:r>
            <a:endParaRPr lang="en-US" sz="1400" dirty="0"/>
          </a:p>
        </p:txBody>
      </p:sp>
      <p:sp>
        <p:nvSpPr>
          <p:cNvPr id="5" name="Progress track"/>
          <p:cNvSpPr/>
          <p:nvPr/>
        </p:nvSpPr>
        <p:spPr>
          <a:xfrm>
            <a:off x="457200" y="2468880"/>
            <a:ext cx="3657600" cy="274320"/>
          </a:xfrm>
          <a:prstGeom prst="rect">
            <a:avLst/>
          </a:prstGeom>
          <a:solidFill>
            <a:srgbClr val="DDE5EE"/>
          </a:solidFill>
          <a:ln w="12700">
            <a:solidFill>
              <a:srgbClr val="DDE5EE"/>
            </a:solidFill>
            <a:prstDash val="solid"/>
          </a:ln>
        </p:spPr>
      </p:sp>
      <p:sp>
        <p:nvSpPr>
          <p:cNvPr id="6" name="Progress fill"/>
          <p:cNvSpPr/>
          <p:nvPr/>
        </p:nvSpPr>
        <p:spPr>
          <a:xfrm>
            <a:off x="457200" y="2468880"/>
            <a:ext cx="731520" cy="274320"/>
          </a:xfrm>
          <a:prstGeom prst="rect">
            <a:avLst/>
          </a:prstGeom>
          <a:solidFill>
            <a:srgbClr val="F2A541"/>
          </a:solidFill>
          <a:ln w="12700">
            <a:solidFill>
              <a:srgbClr val="F2A541"/>
            </a:solidFill>
            <a:prstDash val="solid"/>
          </a:ln>
        </p:spPr>
      </p:sp>
      <p:sp>
        <p:nvSpPr>
          <p:cNvPr id="7" name="PayStream bullets"/>
          <p:cNvSpPr txBox="1"/>
          <p:nvPr/>
        </p:nvSpPr>
        <p:spPr>
          <a:xfrm>
            <a:off x="457200" y="2926080"/>
            <a:ext cx="36576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7 of 8 rated High risk; 5 hold Restricted data</a:t>
            </a:r>
            <a:endParaRPr lang="en-US" sz="1400" dirty="0"/>
          </a:p>
          <a:p>
            <a:pPr marL="342900" indent="-342900">
              <a:spcAft>
                <a:spcPts val="600"/>
              </a:spcAft>
              <a:buSzPct val="100000"/>
              <a:buChar char="•"/>
            </a:pPr>
            <a:r>
              <a:rPr lang="en-US" sz="1400" dirty="0">
                <a:solidFill>
                  <a:schemeClr val="tx1"/>
                </a:solidFill>
              </a:rPr>
              <a:t>Legacy Active Directory and AWS account are not yet aligned to NexusGuard baselines</a:t>
            </a:r>
            <a:endParaRPr lang="en-US" sz="1400" dirty="0"/>
          </a:p>
          <a:p>
            <a:pPr marL="342900" indent="-342900">
              <a:spcAft>
                <a:spcPts val="600"/>
              </a:spcAft>
              <a:buSzPct val="100000"/>
              <a:buChar char="•"/>
            </a:pPr>
            <a:r>
              <a:rPr lang="en-US" sz="1400" dirty="0">
                <a:solidFill>
                  <a:schemeClr val="tx1"/>
                </a:solidFill>
              </a:rPr>
              <a:t>Entries are provisional; review date set to 15 Dec 2026</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80560" y="1280160"/>
          <a:ext cx="4206240" cy="914400"/>
        </p:xfrm>
        <a:graphic>
          <a:graphicData uri="http://schemas.openxmlformats.org/drawingml/2006/table">
            <a:tbl>
              <a:tblPr/>
              <a:tblGrid>
                <a:gridCol w="685800"/>
                <a:gridCol w="1691640"/>
                <a:gridCol w="1005840"/>
                <a:gridCol w="822960"/>
              </a:tblGrid>
              <a:tr h="329184">
                <a:tc>
                  <a:txBody>
                    <a:bodyPr/>
                    <a:lstStyle/>
                    <a:p>
                      <a:pPr indent="0" marL="0">
                        <a:buNone/>
                      </a:pPr>
                      <a:r>
                        <a:rPr lang="en-US" sz="1200" b="1" dirty="0">
                          <a:solidFill>
                            <a:srgbClr val="FFFFFF"/>
                          </a:solidFill>
                        </a:rPr>
                        <a:t>ID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7365D"/>
                    </a:solidFill>
                  </a:tcPr>
                </a:tc>
                <a:tc>
                  <a:txBody>
                    <a:bodyPr/>
                    <a:lstStyle/>
                    <a:p>
                      <a:pPr indent="0" marL="0">
                        <a:buNone/>
                      </a:pPr>
                      <a:r>
                        <a:rPr lang="en-US" sz="1200" b="1" dirty="0">
                          <a:solidFill>
                            <a:srgbClr val="FFFFFF"/>
                          </a:solidFill>
                        </a:rPr>
                        <a:t>Asset</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7365D"/>
                    </a:solidFill>
                  </a:tcPr>
                </a:tc>
                <a:tc>
                  <a:txBody>
                    <a:bodyPr/>
                    <a:lstStyle/>
                    <a:p>
                      <a:pPr indent="0" marL="0">
                        <a:buNone/>
                      </a:pPr>
                      <a:r>
                        <a:rPr lang="en-US" sz="1200" b="1" dirty="0">
                          <a:solidFill>
                            <a:srgbClr val="FFFFFF"/>
                          </a:solidFill>
                        </a:rPr>
                        <a:t>Classification</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7365D"/>
                    </a:solidFill>
                  </a:tcPr>
                </a:tc>
                <a:tc>
                  <a:txBody>
                    <a:bodyPr/>
                    <a:lstStyle/>
                    <a:p>
                      <a:pPr indent="0" marL="0">
                        <a:buNone/>
                      </a:pPr>
                      <a:r>
                        <a:rPr lang="en-US" sz="1200" b="1" dirty="0">
                          <a:solidFill>
                            <a:srgbClr val="FFFFFF"/>
                          </a:solidFill>
                        </a:rPr>
                        <a:t>Risk</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7365D"/>
                    </a:solidFill>
                  </a:tcPr>
                </a:tc>
              </a:tr>
              <a:tr h="329184">
                <a:tc>
                  <a:txBody>
                    <a:bodyPr/>
                    <a:lstStyle/>
                    <a:p>
                      <a:pPr indent="0" marL="0">
                        <a:buNone/>
                      </a:pPr>
                      <a:r>
                        <a:rPr lang="en-US" sz="1200" dirty="0">
                          <a:solidFill>
                            <a:srgbClr val="12263F"/>
                          </a:solidFill>
                        </a:rPr>
                        <a:t>AST-038</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Payment Analytics Platform</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Restricted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329184">
                <a:tc>
                  <a:txBody>
                    <a:bodyPr/>
                    <a:lstStyle/>
                    <a:p>
                      <a:pPr indent="0" marL="0">
                        <a:buNone/>
                      </a:pPr>
                      <a:r>
                        <a:rPr lang="en-US" sz="1200" dirty="0">
                          <a:solidFill>
                            <a:srgbClr val="12263F"/>
                          </a:solidFill>
                        </a:rPr>
                        <a:t>AST-039</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Cardholder Data Environment</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Restricted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2263F"/>
                          </a:solidFill>
                        </a:rPr>
                        <a:t>AST-040</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Transaction Data Warehouse</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Restricted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329184">
                <a:tc>
                  <a:txBody>
                    <a:bodyPr/>
                    <a:lstStyle/>
                    <a:p>
                      <a:pPr indent="0" marL="0">
                        <a:buNone/>
                      </a:pPr>
                      <a:r>
                        <a:rPr lang="en-US" sz="1200" dirty="0">
                          <a:solidFill>
                            <a:srgbClr val="12263F"/>
                          </a:solidFill>
                        </a:rPr>
                        <a:t>AST-041</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Payment HSM</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Restricted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2263F"/>
                          </a:solidFill>
                        </a:rPr>
                        <a:t>AST-042</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Customer API Gateway</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Confidential</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329184">
                <a:tc>
                  <a:txBody>
                    <a:bodyPr/>
                    <a:lstStyle/>
                    <a:p>
                      <a:pPr indent="0" marL="0">
                        <a:buNone/>
                      </a:pPr>
                      <a:r>
                        <a:rPr lang="en-US" sz="1200" dirty="0">
                          <a:solidFill>
                            <a:srgbClr val="12263F"/>
                          </a:solidFill>
                        </a:rPr>
                        <a:t>AST-043</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AWS Account</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Restricted</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2263F"/>
                          </a:solidFill>
                        </a:rPr>
                        <a:t>AST-044</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Legacy Active Directory</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dirty="0">
                          <a:solidFill>
                            <a:srgbClr val="12263F"/>
                          </a:solidFill>
                        </a:rPr>
                        <a:t>Confidential</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200" b="1" dirty="0">
                          <a:solidFill>
                            <a:srgbClr val="C0392B"/>
                          </a:solidFill>
                        </a:rPr>
                        <a:t>High</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329184">
                <a:tc>
                  <a:txBody>
                    <a:bodyPr/>
                    <a:lstStyle/>
                    <a:p>
                      <a:pPr indent="0" marL="0">
                        <a:buNone/>
                      </a:pPr>
                      <a:r>
                        <a:rPr lang="en-US" sz="1200" dirty="0">
                          <a:solidFill>
                            <a:srgbClr val="12263F"/>
                          </a:solidFill>
                        </a:rPr>
                        <a:t>AST-045</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Corporate Email Tenant</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dirty="0">
                          <a:solidFill>
                            <a:srgbClr val="12263F"/>
                          </a:solidFill>
                        </a:rPr>
                        <a:t>Confidential</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200" b="1" dirty="0">
                          <a:solidFill>
                            <a:srgbClr val="9A6A12"/>
                          </a:solidFill>
                        </a:rPr>
                        <a:t>Medium</a:t>
                      </a:r>
                      <a:endParaRPr lang="en-US" sz="1200" dirty="0"/>
                    </a:p>
                  </a:txBody>
                  <a:tcPr marL="73152" marR="73152" marT="18288" marB="18288"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Decisions requested from the ISSC</a:t>
            </a:r>
            <a:endParaRPr lang="en-US" sz="3000" dirty="0"/>
          </a:p>
        </p:txBody>
      </p:sp>
      <p:sp>
        <p:nvSpPr>
          <p:cNvPr id="3" name="Rec number bg 1"/>
          <p:cNvSpPr/>
          <p:nvPr/>
        </p:nvSpPr>
        <p:spPr>
          <a:xfrm>
            <a:off x="457200" y="1225296"/>
            <a:ext cx="457200" cy="457200"/>
          </a:xfrm>
          <a:prstGeom prst="ellipse">
            <a:avLst/>
          </a:prstGeom>
          <a:solidFill>
            <a:srgbClr val="17365D"/>
          </a:solidFill>
          <a:ln w="12700">
            <a:solidFill>
              <a:srgbClr val="17365D"/>
            </a:solidFill>
            <a:prstDash val="solid"/>
          </a:ln>
        </p:spPr>
      </p:sp>
      <p:sp>
        <p:nvSpPr>
          <p:cNvPr id="4" name="Rec number 1"/>
          <p:cNvSpPr txBox="1"/>
          <p:nvPr/>
        </p:nvSpPr>
        <p:spPr>
          <a:xfrm>
            <a:off x="457200" y="12252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Rec text 1"/>
          <p:cNvSpPr txBox="1"/>
          <p:nvPr/>
        </p:nvSpPr>
        <p:spPr>
          <a:xfrm>
            <a:off x="1097280" y="1188720"/>
            <a:ext cx="7589520" cy="548640"/>
          </a:xfrm>
          <a:prstGeom prst="rect">
            <a:avLst/>
          </a:prstGeom>
          <a:noFill/>
          <a:ln/>
        </p:spPr>
        <p:txBody>
          <a:bodyPr wrap="square" lIns="0" tIns="0" rIns="0" bIns="0" rtlCol="0" anchor="ctr"/>
          <a:lstStyle/>
          <a:p>
            <a:pPr indent="0" marL="0">
              <a:buNone/>
            </a:pPr>
            <a:r>
              <a:rPr lang="en-US" sz="1500" b="1" dirty="0">
                <a:solidFill>
                  <a:srgbClr val="17365D"/>
                </a:solidFill>
              </a:rPr>
              <a:t>Approve the register </a:t>
            </a:r>
            <a:pPr indent="0" marL="0">
              <a:buNone/>
            </a:pPr>
            <a:r>
              <a:rPr lang="en-US" sz="1500" dirty="0">
                <a:solidFill>
                  <a:schemeClr val="tx1"/>
                </a:solidFill>
              </a:rPr>
              <a:t>as the authoritative asset inventory, owned by the CISO and reviewed at least quarterly.</a:t>
            </a:r>
            <a:endParaRPr lang="en-US" sz="1500" dirty="0"/>
          </a:p>
        </p:txBody>
      </p:sp>
      <p:sp>
        <p:nvSpPr>
          <p:cNvPr id="6" name="Rec number bg 2"/>
          <p:cNvSpPr/>
          <p:nvPr/>
        </p:nvSpPr>
        <p:spPr>
          <a:xfrm>
            <a:off x="457200" y="1901952"/>
            <a:ext cx="457200" cy="457200"/>
          </a:xfrm>
          <a:prstGeom prst="ellipse">
            <a:avLst/>
          </a:prstGeom>
          <a:solidFill>
            <a:srgbClr val="17365D"/>
          </a:solidFill>
          <a:ln w="12700">
            <a:solidFill>
              <a:srgbClr val="17365D"/>
            </a:solidFill>
            <a:prstDash val="solid"/>
          </a:ln>
        </p:spPr>
      </p:sp>
      <p:sp>
        <p:nvSpPr>
          <p:cNvPr id="7" name="Rec number 2"/>
          <p:cNvSpPr txBox="1"/>
          <p:nvPr/>
        </p:nvSpPr>
        <p:spPr>
          <a:xfrm>
            <a:off x="457200"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Rec text 2"/>
          <p:cNvSpPr txBox="1"/>
          <p:nvPr/>
        </p:nvSpPr>
        <p:spPr>
          <a:xfrm>
            <a:off x="1097280" y="1865376"/>
            <a:ext cx="7589520" cy="548640"/>
          </a:xfrm>
          <a:prstGeom prst="rect">
            <a:avLst/>
          </a:prstGeom>
          <a:noFill/>
          <a:ln/>
        </p:spPr>
        <p:txBody>
          <a:bodyPr wrap="square" lIns="0" tIns="0" rIns="0" bIns="0" rtlCol="0" anchor="ctr"/>
          <a:lstStyle/>
          <a:p>
            <a:pPr indent="0" marL="0">
              <a:buNone/>
            </a:pPr>
            <a:r>
              <a:rPr lang="en-US" sz="1500" b="1" dirty="0">
                <a:solidFill>
                  <a:srgbClr val="17365D"/>
                </a:solidFill>
              </a:rPr>
              <a:t>Require owner attestation </a:t>
            </a:r>
            <a:pPr indent="0" marL="0">
              <a:buNone/>
            </a:pPr>
            <a:r>
              <a:rPr lang="en-US" sz="1500" dirty="0">
                <a:solidFill>
                  <a:schemeClr val="tx1"/>
                </a:solidFill>
              </a:rPr>
              <a:t>from every asset owner to confirm entries within 30 days.</a:t>
            </a:r>
            <a:endParaRPr lang="en-US" sz="1500" dirty="0"/>
          </a:p>
        </p:txBody>
      </p:sp>
      <p:sp>
        <p:nvSpPr>
          <p:cNvPr id="9" name="Rec number bg 3"/>
          <p:cNvSpPr/>
          <p:nvPr/>
        </p:nvSpPr>
        <p:spPr>
          <a:xfrm>
            <a:off x="457200" y="2578608"/>
            <a:ext cx="457200" cy="457200"/>
          </a:xfrm>
          <a:prstGeom prst="ellipse">
            <a:avLst/>
          </a:prstGeom>
          <a:solidFill>
            <a:srgbClr val="17365D"/>
          </a:solidFill>
          <a:ln w="12700">
            <a:solidFill>
              <a:srgbClr val="17365D"/>
            </a:solidFill>
            <a:prstDash val="solid"/>
          </a:ln>
        </p:spPr>
      </p:sp>
      <p:sp>
        <p:nvSpPr>
          <p:cNvPr id="10" name="Rec number 3"/>
          <p:cNvSpPr txBox="1"/>
          <p:nvPr/>
        </p:nvSpPr>
        <p:spPr>
          <a:xfrm>
            <a:off x="45720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Rec text 3"/>
          <p:cNvSpPr txBox="1"/>
          <p:nvPr/>
        </p:nvSpPr>
        <p:spPr>
          <a:xfrm>
            <a:off x="1097280" y="2542032"/>
            <a:ext cx="7589520" cy="548640"/>
          </a:xfrm>
          <a:prstGeom prst="rect">
            <a:avLst/>
          </a:prstGeom>
          <a:noFill/>
          <a:ln/>
        </p:spPr>
        <p:txBody>
          <a:bodyPr wrap="square" lIns="0" tIns="0" rIns="0" bIns="0" rtlCol="0" anchor="ctr"/>
          <a:lstStyle/>
          <a:p>
            <a:pPr indent="0" marL="0">
              <a:buNone/>
            </a:pPr>
            <a:r>
              <a:rPr lang="en-US" sz="1500" b="1" dirty="0">
                <a:solidFill>
                  <a:srgbClr val="17365D"/>
                </a:solidFill>
              </a:rPr>
              <a:t>Fund PayStream discovery </a:t>
            </a:r>
            <a:pPr indent="0" marL="0">
              <a:buNone/>
            </a:pPr>
            <a:r>
              <a:rPr lang="en-US" sz="1500" dirty="0">
                <a:solidFill>
                  <a:schemeClr val="tx1"/>
                </a:solidFill>
              </a:rPr>
              <a:t>to find the remaining 32+ assets within 90 days.</a:t>
            </a:r>
            <a:endParaRPr lang="en-US" sz="1500" dirty="0"/>
          </a:p>
        </p:txBody>
      </p:sp>
      <p:sp>
        <p:nvSpPr>
          <p:cNvPr id="12" name="Rec number bg 4"/>
          <p:cNvSpPr/>
          <p:nvPr/>
        </p:nvSpPr>
        <p:spPr>
          <a:xfrm>
            <a:off x="457200" y="3255264"/>
            <a:ext cx="457200" cy="457200"/>
          </a:xfrm>
          <a:prstGeom prst="ellipse">
            <a:avLst/>
          </a:prstGeom>
          <a:solidFill>
            <a:srgbClr val="17365D"/>
          </a:solidFill>
          <a:ln w="12700">
            <a:solidFill>
              <a:srgbClr val="17365D"/>
            </a:solidFill>
            <a:prstDash val="solid"/>
          </a:ln>
        </p:spPr>
      </p:sp>
      <p:sp>
        <p:nvSpPr>
          <p:cNvPr id="13" name="Rec number 4"/>
          <p:cNvSpPr txBox="1"/>
          <p:nvPr/>
        </p:nvSpPr>
        <p:spPr>
          <a:xfrm>
            <a:off x="457200" y="3255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4" name="Rec text 4"/>
          <p:cNvSpPr txBox="1"/>
          <p:nvPr/>
        </p:nvSpPr>
        <p:spPr>
          <a:xfrm>
            <a:off x="1097280" y="3218688"/>
            <a:ext cx="7589520" cy="548640"/>
          </a:xfrm>
          <a:prstGeom prst="rect">
            <a:avLst/>
          </a:prstGeom>
          <a:noFill/>
          <a:ln/>
        </p:spPr>
        <p:txBody>
          <a:bodyPr wrap="square" lIns="0" tIns="0" rIns="0" bIns="0" rtlCol="0" anchor="ctr"/>
          <a:lstStyle/>
          <a:p>
            <a:pPr indent="0" marL="0">
              <a:buNone/>
            </a:pPr>
            <a:r>
              <a:rPr lang="en-US" sz="1500" b="1" dirty="0">
                <a:solidFill>
                  <a:srgbClr val="17365D"/>
                </a:solidFill>
              </a:rPr>
              <a:t>Start risk treatment </a:t>
            </a:r>
            <a:pPr indent="0" marL="0">
              <a:buNone/>
            </a:pPr>
            <a:r>
              <a:rPr lang="en-US" sz="1500" dirty="0">
                <a:solidFill>
                  <a:schemeClr val="tx1"/>
                </a:solidFill>
              </a:rPr>
              <a:t>for the 23 Critical, High-risk assets, beginning with AWS, Entra ID and the cardholder environment.</a:t>
            </a:r>
            <a:endParaRPr lang="en-US" sz="1500" dirty="0"/>
          </a:p>
        </p:txBody>
      </p:sp>
      <p:sp>
        <p:nvSpPr>
          <p:cNvPr id="15" name="Rec number bg 5"/>
          <p:cNvSpPr/>
          <p:nvPr/>
        </p:nvSpPr>
        <p:spPr>
          <a:xfrm>
            <a:off x="457200" y="3931920"/>
            <a:ext cx="457200" cy="457200"/>
          </a:xfrm>
          <a:prstGeom prst="ellipse">
            <a:avLst/>
          </a:prstGeom>
          <a:solidFill>
            <a:srgbClr val="17365D"/>
          </a:solidFill>
          <a:ln w="12700">
            <a:solidFill>
              <a:srgbClr val="17365D"/>
            </a:solidFill>
            <a:prstDash val="solid"/>
          </a:ln>
        </p:spPr>
      </p:sp>
      <p:sp>
        <p:nvSpPr>
          <p:cNvPr id="16" name="Rec number 5"/>
          <p:cNvSpPr txBox="1"/>
          <p:nvPr/>
        </p:nvSpPr>
        <p:spPr>
          <a:xfrm>
            <a:off x="45720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17" name="Rec text 5"/>
          <p:cNvSpPr txBox="1"/>
          <p:nvPr/>
        </p:nvSpPr>
        <p:spPr>
          <a:xfrm>
            <a:off x="1097280" y="3895344"/>
            <a:ext cx="7589520" cy="548640"/>
          </a:xfrm>
          <a:prstGeom prst="rect">
            <a:avLst/>
          </a:prstGeom>
          <a:noFill/>
          <a:ln/>
        </p:spPr>
        <p:txBody>
          <a:bodyPr wrap="square" lIns="0" tIns="0" rIns="0" bIns="0" rtlCol="0" anchor="ctr"/>
          <a:lstStyle/>
          <a:p>
            <a:pPr indent="0" marL="0">
              <a:buNone/>
            </a:pPr>
            <a:r>
              <a:rPr lang="en-US" sz="1500" b="1" dirty="0">
                <a:solidFill>
                  <a:srgbClr val="17365D"/>
                </a:solidFill>
              </a:rPr>
              <a:t>Embed the register </a:t>
            </a:r>
            <a:pPr indent="0" marL="0">
              <a:buNone/>
            </a:pPr>
            <a:r>
              <a:rPr lang="en-US" sz="1500" dirty="0">
                <a:solidFill>
                  <a:schemeClr val="tx1"/>
                </a:solidFill>
              </a:rPr>
              <a:t>in procurement and change management so new assets are recorded at onboarding.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8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NexusGuard IAR">
  <a:themeElements>
    <a:clrScheme name="NexusGuard IAR">
      <a:dk1>
        <a:srgbClr val="12263F"/>
      </a:dk1>
      <a:lt1>
        <a:srgbClr val="FFFFFF"/>
      </a:lt1>
      <a:dk2>
        <a:srgbClr val="17365D"/>
      </a:dk2>
      <a:lt2>
        <a:srgbClr val="EEF3F8"/>
      </a:lt2>
      <a:accent1>
        <a:srgbClr val="2E75B6"/>
      </a:accent1>
      <a:accent2>
        <a:srgbClr val="F2A541"/>
      </a:accent2>
      <a:accent3>
        <a:srgbClr val="C0392B"/>
      </a:accent3>
      <a:accent4>
        <a:srgbClr val="2E8B6A"/>
      </a:accent4>
      <a:accent5>
        <a:srgbClr val="5F6F82"/>
      </a:accent5>
      <a:accent6>
        <a:srgbClr val="0F7C8A"/>
      </a:accent6>
      <a:hlink>
        <a:srgbClr val="2E75B6"/>
      </a:hlink>
      <a:folHlink>
        <a:srgbClr val="5F6F82"/>
      </a:folHlink>
    </a:clrScheme>
    <a:fontScheme name="NexusGuard I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NexusGuard Information Asset Register: Summary for the ISSC</dc:title>
  <dc:subject>PptxGenJS Presentation</dc:subject>
  <dc:creator>Augustine Ozor, GRC Analyst</dc:creator>
  <cp:lastModifiedBy>Augustine Ozor, GRC Analyst</cp:lastModifiedBy>
  <cp:revision>1</cp:revision>
  <dcterms:created xsi:type="dcterms:W3CDTF">2026-10-12T19:02:16Z</dcterms:created>
  <dcterms:modified xsi:type="dcterms:W3CDTF">2026-10-12T19:02:16Z</dcterms:modified>
</cp:coreProperties>
</file>