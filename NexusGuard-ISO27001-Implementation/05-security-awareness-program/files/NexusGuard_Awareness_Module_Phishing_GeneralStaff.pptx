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30-minute module is the first in the General Staff track. You will see real examples, try two exercises, and finish with a five-question check. The pass mark is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recent internal simulation found that 34% of staff clicked the link and 18% entered their credentials. A stolen password is often enough for an attacker to get in. The goal is to cut both numbers sharply by the end of the year, and to make reporting a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Attackers use whatever channel you trust. The common thread is that they try to make you act quickly without thinking. Business email compromise is the most costly type for organizations.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marker. Any one of these should make you stop. Two or three together are almost certainly phishing.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exercise 1. Give learners 60 seconds. Ask them to find at least five red flags before revealing the answers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Reveal. Ask who found each flag. Point out that the combination of urgency, secrecy and a request to bypass the normal payment process is classic business email compromise.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Attackers copy real sign-in pages. The padlock only shows the connection is encrypted, not that the site is genuine. Use the bookmark or the single sign-on portal rather than a link in a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engineering targets people, not systems. Callers, chat messages and visitors use the same three moves. The defence is always the same: stop, and verify through a second channel you already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exercise 2. Ask learners to choose A, B or C in the chat or by show of hands, then move to the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is what the attacker wants. Option C keeps you talking to the attacker and reveals that you are willing. B breaks the chain: verify on a second channel, then report. Point out the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just-culture message. The people who get hurt are those who stay quiet. Reporting quickly lets Security contain the problem before it spreads.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reporting steps in the mail client. Explain what happens next and that reporters get feedback. Our target is that most simulated phish are reported, not just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about two minutes. They should note their answers. The answers are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about two minutes. Then show the answers on the next slide. The pass mark is 4 out of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answers briefly. The pass mark is 80% (4 of 5), recorded in the learning system. Learners who score lower retake the check after reviewing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3035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7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3152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36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C6D8"/>
                </a:solidFill>
              </a:rPr>
              <a:t>NEXUSGUARD  |  Security Awareness 2026  |  General Staff track, Module 1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it. Stop it.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General Staff track, Module 1: Phishing and social engineering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7C6D8"/>
                </a:solidFill>
              </a:rPr>
              <a:t>30 minutes  |  2 interactive exercises  |  5-question knowledge check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7C6D8"/>
                </a:solidFill>
              </a:rPr>
              <a:t>NexusGuard Security Awareness Program 2026</a:t>
            </a:r>
            <a:endParaRPr lang="en-US" sz="1600" dirty="0"/>
          </a:p>
        </p:txBody>
      </p:sp>
      <p:sp>
        <p:nvSpPr>
          <p:cNvPr id="4" name="Hero circle"/>
          <p:cNvSpPr/>
          <p:nvPr/>
        </p:nvSpPr>
        <p:spPr>
          <a:xfrm>
            <a:off x="6400800" y="1143000"/>
            <a:ext cx="2286000" cy="2286000"/>
          </a:xfrm>
          <a:prstGeom prst="ellipse">
            <a:avLst/>
          </a:prstGeom>
          <a:solidFill>
            <a:srgbClr val="1F4676"/>
          </a:solidFill>
          <a:ln w="31750">
            <a:solidFill>
              <a:srgbClr val="5EEAD4"/>
            </a:solidFill>
            <a:prstDash val="solid"/>
          </a:ln>
        </p:spPr>
      </p:sp>
      <p:pic>
        <p:nvPicPr>
          <p:cNvPr id="5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45920"/>
            <a:ext cx="1280160" cy="1280160"/>
          </a:xfrm>
          <a:prstGeom prst="rect">
            <a:avLst/>
          </a:prstGeom>
        </p:spPr>
      </p:pic>
      <p:sp>
        <p:nvSpPr>
          <p:cNvPr id="6" name="Wordmark"/>
          <p:cNvSpPr txBox="1"/>
          <p:nvPr/>
        </p:nvSpPr>
        <p:spPr>
          <a:xfrm>
            <a:off x="603504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5EEAD4"/>
                </a:solidFill>
              </a:rPr>
              <a:t>NEXUSGUARD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28016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1"/>
          <p:cNvSpPr txBox="1"/>
          <p:nvPr/>
        </p:nvSpPr>
        <p:spPr>
          <a:xfrm>
            <a:off x="685800" y="13898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5400" dirty="0"/>
          </a:p>
        </p:txBody>
      </p:sp>
      <p:sp>
        <p:nvSpPr>
          <p:cNvPr id="6" name="Stat label 1"/>
          <p:cNvSpPr txBox="1"/>
          <p:nvPr/>
        </p:nvSpPr>
        <p:spPr>
          <a:xfrm>
            <a:off x="2377440" y="1463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clicked the simulated phishing link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457200" y="288036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685800" y="29900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5400" dirty="0"/>
          </a:p>
        </p:txBody>
      </p:sp>
      <p:sp>
        <p:nvSpPr>
          <p:cNvPr id="9" name="Stat label 2"/>
          <p:cNvSpPr txBox="1"/>
          <p:nvPr/>
        </p:nvSpPr>
        <p:spPr>
          <a:xfrm>
            <a:off x="237744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went on to enter their credentials</a:t>
            </a:r>
            <a:endParaRPr lang="en-US" sz="1600" dirty="0"/>
          </a:p>
        </p:txBody>
      </p:sp>
      <p:sp>
        <p:nvSpPr>
          <p:cNvPr id="10" name="Source note"/>
          <p:cNvSpPr txBox="1"/>
          <p:nvPr/>
        </p:nvSpPr>
        <p:spPr>
          <a:xfrm>
            <a:off x="45720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82"/>
                </a:solidFill>
              </a:rPr>
              <a:t>Our own simulation, all staff</a:t>
            </a:r>
            <a:endParaRPr lang="en-US" sz="1100" dirty="0"/>
          </a:p>
        </p:txBody>
      </p:sp>
      <p:sp>
        <p:nvSpPr>
          <p:cNvPr id="11" name="Objectives head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 you can:</a:t>
            </a:r>
            <a:endParaRPr lang="en-US" sz="1800" dirty="0"/>
          </a:p>
        </p:txBody>
      </p:sp>
      <p:sp>
        <p:nvSpPr>
          <p:cNvPr id="12" name="Objectives list"/>
          <p:cNvSpPr txBox="1"/>
          <p:nvPr/>
        </p:nvSpPr>
        <p:spPr>
          <a:xfrm>
            <a:off x="4663440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Spot a phishing email and a fake login page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Recognize social engineering by phone and chat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 exactly what to do if you click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 suspicious messages within 1 hour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comes in many forms</a:t>
            </a:r>
            <a:endParaRPr lang="en-US" sz="3000" dirty="0"/>
          </a:p>
        </p:txBody>
      </p:sp>
      <p:sp>
        <p:nvSpPr>
          <p:cNvPr id="4" name="Form card 1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orm icon bg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6" name="Image 0" descr="Email phish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Form name 1"/>
          <p:cNvSpPr txBox="1"/>
          <p:nvPr/>
        </p:nvSpPr>
        <p:spPr>
          <a:xfrm>
            <a:off x="13258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Email phishing</a:t>
            </a:r>
            <a:endParaRPr lang="en-US" sz="1600" dirty="0"/>
          </a:p>
        </p:txBody>
      </p:sp>
      <p:sp>
        <p:nvSpPr>
          <p:cNvPr id="8" name="Form text 1"/>
          <p:cNvSpPr txBox="1"/>
          <p:nvPr/>
        </p:nvSpPr>
        <p:spPr>
          <a:xfrm>
            <a:off x="6400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Fake messages that push you to click or open a file</a:t>
            </a:r>
            <a:endParaRPr lang="en-US" sz="1400" dirty="0"/>
          </a:p>
        </p:txBody>
      </p:sp>
      <p:sp>
        <p:nvSpPr>
          <p:cNvPr id="9" name="Form card 2"/>
          <p:cNvSpPr/>
          <p:nvPr/>
        </p:nvSpPr>
        <p:spPr>
          <a:xfrm>
            <a:off x="3273552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orm icon bg 2"/>
          <p:cNvSpPr/>
          <p:nvPr/>
        </p:nvSpPr>
        <p:spPr>
          <a:xfrm>
            <a:off x="3456432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11" name="Image 1" descr="Smish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00200"/>
            <a:ext cx="274320" cy="274320"/>
          </a:xfrm>
          <a:prstGeom prst="rect">
            <a:avLst/>
          </a:prstGeom>
        </p:spPr>
      </p:pic>
      <p:sp>
        <p:nvSpPr>
          <p:cNvPr id="12" name="Form name 2"/>
          <p:cNvSpPr txBox="1"/>
          <p:nvPr/>
        </p:nvSpPr>
        <p:spPr>
          <a:xfrm>
            <a:off x="4142232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Smishing</a:t>
            </a:r>
            <a:endParaRPr lang="en-US" sz="1600" dirty="0"/>
          </a:p>
        </p:txBody>
      </p:sp>
      <p:sp>
        <p:nvSpPr>
          <p:cNvPr id="13" name="Form text 2"/>
          <p:cNvSpPr txBox="1"/>
          <p:nvPr/>
        </p:nvSpPr>
        <p:spPr>
          <a:xfrm>
            <a:off x="3456432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trick by text message or chat</a:t>
            </a:r>
            <a:endParaRPr lang="en-US" sz="1400" dirty="0"/>
          </a:p>
        </p:txBody>
      </p:sp>
      <p:sp>
        <p:nvSpPr>
          <p:cNvPr id="14" name="Form card 3"/>
          <p:cNvSpPr/>
          <p:nvPr/>
        </p:nvSpPr>
        <p:spPr>
          <a:xfrm>
            <a:off x="6089904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orm icon bg 3"/>
          <p:cNvSpPr/>
          <p:nvPr/>
        </p:nvSpPr>
        <p:spPr>
          <a:xfrm>
            <a:off x="6272784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16" name="Image 2" descr="Vish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600200"/>
            <a:ext cx="274320" cy="274320"/>
          </a:xfrm>
          <a:prstGeom prst="rect">
            <a:avLst/>
          </a:prstGeom>
        </p:spPr>
      </p:pic>
      <p:sp>
        <p:nvSpPr>
          <p:cNvPr id="17" name="Form name 3"/>
          <p:cNvSpPr txBox="1"/>
          <p:nvPr/>
        </p:nvSpPr>
        <p:spPr>
          <a:xfrm>
            <a:off x="6958584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Vishing</a:t>
            </a:r>
            <a:endParaRPr lang="en-US" sz="1600" dirty="0"/>
          </a:p>
        </p:txBody>
      </p:sp>
      <p:sp>
        <p:nvSpPr>
          <p:cNvPr id="18" name="Form text 3"/>
          <p:cNvSpPr txBox="1"/>
          <p:nvPr/>
        </p:nvSpPr>
        <p:spPr>
          <a:xfrm>
            <a:off x="6272784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caller pretends to be IT, a bank or a client</a:t>
            </a:r>
            <a:endParaRPr lang="en-US" sz="1400" dirty="0"/>
          </a:p>
        </p:txBody>
      </p:sp>
      <p:sp>
        <p:nvSpPr>
          <p:cNvPr id="19" name="Form card 4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orm icon bg 4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21" name="Image 3" descr="Fake login pag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22" name="Form name 4"/>
          <p:cNvSpPr txBox="1"/>
          <p:nvPr/>
        </p:nvSpPr>
        <p:spPr>
          <a:xfrm>
            <a:off x="132588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Fake login pages</a:t>
            </a:r>
            <a:endParaRPr lang="en-US" sz="1600" dirty="0"/>
          </a:p>
        </p:txBody>
      </p:sp>
      <p:sp>
        <p:nvSpPr>
          <p:cNvPr id="23" name="Form text 4"/>
          <p:cNvSpPr txBox="1"/>
          <p:nvPr/>
        </p:nvSpPr>
        <p:spPr>
          <a:xfrm>
            <a:off x="64008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Copies of real sign-in screens that steal your password</a:t>
            </a:r>
            <a:endParaRPr lang="en-US" sz="1400" dirty="0"/>
          </a:p>
        </p:txBody>
      </p:sp>
      <p:sp>
        <p:nvSpPr>
          <p:cNvPr id="24" name="Form card 5"/>
          <p:cNvSpPr/>
          <p:nvPr/>
        </p:nvSpPr>
        <p:spPr>
          <a:xfrm>
            <a:off x="3273552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orm icon bg 5"/>
          <p:cNvSpPr/>
          <p:nvPr/>
        </p:nvSpPr>
        <p:spPr>
          <a:xfrm>
            <a:off x="3456432" y="315468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26" name="Image 4" descr="QR phish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291840"/>
            <a:ext cx="274320" cy="274320"/>
          </a:xfrm>
          <a:prstGeom prst="rect">
            <a:avLst/>
          </a:prstGeom>
        </p:spPr>
      </p:pic>
      <p:sp>
        <p:nvSpPr>
          <p:cNvPr id="27" name="Form name 5"/>
          <p:cNvSpPr txBox="1"/>
          <p:nvPr/>
        </p:nvSpPr>
        <p:spPr>
          <a:xfrm>
            <a:off x="4142232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QR phishing</a:t>
            </a:r>
            <a:endParaRPr lang="en-US" sz="1600" dirty="0"/>
          </a:p>
        </p:txBody>
      </p:sp>
      <p:sp>
        <p:nvSpPr>
          <p:cNvPr id="28" name="Form text 5"/>
          <p:cNvSpPr txBox="1"/>
          <p:nvPr/>
        </p:nvSpPr>
        <p:spPr>
          <a:xfrm>
            <a:off x="3456432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QR code that leads to a fake site</a:t>
            </a:r>
            <a:endParaRPr lang="en-US" sz="1400" dirty="0"/>
          </a:p>
        </p:txBody>
      </p:sp>
      <p:sp>
        <p:nvSpPr>
          <p:cNvPr id="29" name="Form card 6"/>
          <p:cNvSpPr/>
          <p:nvPr/>
        </p:nvSpPr>
        <p:spPr>
          <a:xfrm>
            <a:off x="6089904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Form icon bg 6"/>
          <p:cNvSpPr/>
          <p:nvPr/>
        </p:nvSpPr>
        <p:spPr>
          <a:xfrm>
            <a:off x="6272784" y="315468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31" name="Image 5" descr="Business email compromis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291840"/>
            <a:ext cx="274320" cy="274320"/>
          </a:xfrm>
          <a:prstGeom prst="rect">
            <a:avLst/>
          </a:prstGeom>
        </p:spPr>
      </p:pic>
      <p:sp>
        <p:nvSpPr>
          <p:cNvPr id="32" name="Form name 6"/>
          <p:cNvSpPr txBox="1"/>
          <p:nvPr/>
        </p:nvSpPr>
        <p:spPr>
          <a:xfrm>
            <a:off x="6958584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email compromise</a:t>
            </a:r>
            <a:endParaRPr lang="en-US" sz="1600" dirty="0"/>
          </a:p>
        </p:txBody>
      </p:sp>
      <p:sp>
        <p:nvSpPr>
          <p:cNvPr id="33" name="Form text 6"/>
          <p:cNvSpPr txBox="1"/>
          <p:nvPr/>
        </p:nvSpPr>
        <p:spPr>
          <a:xfrm>
            <a:off x="6272784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Someone posing as a boss or supplier asks for money or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4" name="Email card"/>
          <p:cNvSpPr/>
          <p:nvPr/>
        </p:nvSpPr>
        <p:spPr>
          <a:xfrm>
            <a:off x="457200" y="123444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5" name="Email header bar"/>
          <p:cNvSpPr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71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F82"/>
                </a:solidFill>
              </a:rPr>
              <a:t>Inbox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18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From: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18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IT Support &lt;it-support@nexusguard-helpdesk.co&gt;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To: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You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305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Subject: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130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URGENT: Your password expires in 2 hours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2423160"/>
            <a:ext cx="484632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Dear user,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Your mailbox password will expire today. To keep your access you must confirm it now or your account will be locked.</a:t>
            </a:r>
            <a:endParaRPr lang="en-US" sz="1200" dirty="0"/>
          </a:p>
        </p:txBody>
      </p:sp>
      <p:sp>
        <p:nvSpPr>
          <p:cNvPr id="15" name="Fake button"/>
          <p:cNvSpPr/>
          <p:nvPr/>
        </p:nvSpPr>
        <p:spPr>
          <a:xfrm>
            <a:off x="594360" y="379476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794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Keep my password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2"/>
                </a:solidFill>
              </a:rPr>
              <a:t>Attachment: Password_Update.html</a:t>
            </a:r>
            <a:endParaRPr lang="en-US" sz="1100" dirty="0"/>
          </a:p>
        </p:txBody>
      </p:sp>
      <p:sp>
        <p:nvSpPr>
          <p:cNvPr id="18" name="Marker 1"/>
          <p:cNvSpPr/>
          <p:nvPr/>
        </p:nvSpPr>
        <p:spPr>
          <a:xfrm>
            <a:off x="274320" y="1536192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432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Marker 2"/>
          <p:cNvSpPr/>
          <p:nvPr/>
        </p:nvSpPr>
        <p:spPr>
          <a:xfrm>
            <a:off x="274320" y="21945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Marker 3"/>
          <p:cNvSpPr/>
          <p:nvPr/>
        </p:nvSpPr>
        <p:spPr>
          <a:xfrm>
            <a:off x="274320" y="26974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43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Marker 4"/>
          <p:cNvSpPr/>
          <p:nvPr/>
        </p:nvSpPr>
        <p:spPr>
          <a:xfrm>
            <a:off x="274320" y="374904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43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Marker 5"/>
          <p:cNvSpPr/>
          <p:nvPr/>
        </p:nvSpPr>
        <p:spPr>
          <a:xfrm>
            <a:off x="274320" y="42519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4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Marker 1"/>
          <p:cNvSpPr/>
          <p:nvPr/>
        </p:nvSpPr>
        <p:spPr>
          <a:xfrm>
            <a:off x="5852160" y="13258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Flag title 1"/>
          <p:cNvSpPr txBox="1"/>
          <p:nvPr/>
        </p:nvSpPr>
        <p:spPr>
          <a:xfrm>
            <a:off x="6263640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Look-alike sender</a:t>
            </a:r>
            <a:endParaRPr lang="en-US" sz="1500" dirty="0"/>
          </a:p>
        </p:txBody>
      </p:sp>
      <p:sp>
        <p:nvSpPr>
          <p:cNvPr id="31" name="Flag text 1"/>
          <p:cNvSpPr txBox="1"/>
          <p:nvPr/>
        </p:nvSpPr>
        <p:spPr>
          <a:xfrm>
            <a:off x="6263640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domain is not ours, but looks close</a:t>
            </a:r>
            <a:endParaRPr lang="en-US" sz="1300" dirty="0"/>
          </a:p>
        </p:txBody>
      </p:sp>
      <p:sp>
        <p:nvSpPr>
          <p:cNvPr id="32" name="Marker 2"/>
          <p:cNvSpPr/>
          <p:nvPr/>
        </p:nvSpPr>
        <p:spPr>
          <a:xfrm>
            <a:off x="5852160" y="2020824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5216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Flag title 2"/>
          <p:cNvSpPr txBox="1"/>
          <p:nvPr/>
        </p:nvSpPr>
        <p:spPr>
          <a:xfrm>
            <a:off x="6263640" y="1929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Urgency and threat</a:t>
            </a:r>
            <a:endParaRPr lang="en-US" sz="1500" dirty="0"/>
          </a:p>
        </p:txBody>
      </p:sp>
      <p:sp>
        <p:nvSpPr>
          <p:cNvPr id="35" name="Flag text 2"/>
          <p:cNvSpPr txBox="1"/>
          <p:nvPr/>
        </p:nvSpPr>
        <p:spPr>
          <a:xfrm>
            <a:off x="6263640" y="22037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deadline and a lockout to rush you</a:t>
            </a:r>
            <a:endParaRPr lang="en-US" sz="1300" dirty="0"/>
          </a:p>
        </p:txBody>
      </p:sp>
      <p:sp>
        <p:nvSpPr>
          <p:cNvPr id="36" name="Marker 3"/>
          <p:cNvSpPr/>
          <p:nvPr/>
        </p:nvSpPr>
        <p:spPr>
          <a:xfrm>
            <a:off x="5852160" y="2715768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85216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Flag title 3"/>
          <p:cNvSpPr txBox="1"/>
          <p:nvPr/>
        </p:nvSpPr>
        <p:spPr>
          <a:xfrm>
            <a:off x="626364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Generic greeting</a:t>
            </a:r>
            <a:endParaRPr lang="en-US" sz="1500" dirty="0"/>
          </a:p>
        </p:txBody>
      </p:sp>
      <p:sp>
        <p:nvSpPr>
          <p:cNvPr id="39" name="Flag text 3"/>
          <p:cNvSpPr txBox="1"/>
          <p:nvPr/>
        </p:nvSpPr>
        <p:spPr>
          <a:xfrm>
            <a:off x="6263640" y="28986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"Dear user" instead of your name</a:t>
            </a:r>
            <a:endParaRPr lang="en-US" sz="1300" dirty="0"/>
          </a:p>
        </p:txBody>
      </p:sp>
      <p:sp>
        <p:nvSpPr>
          <p:cNvPr id="40" name="Marker 4"/>
          <p:cNvSpPr/>
          <p:nvPr/>
        </p:nvSpPr>
        <p:spPr>
          <a:xfrm>
            <a:off x="5852160" y="3410712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85216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Flag title 4"/>
          <p:cNvSpPr txBox="1"/>
          <p:nvPr/>
        </p:nvSpPr>
        <p:spPr>
          <a:xfrm>
            <a:off x="6263640" y="3319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Suspicious button</a:t>
            </a:r>
            <a:endParaRPr lang="en-US" sz="1500" dirty="0"/>
          </a:p>
        </p:txBody>
      </p:sp>
      <p:sp>
        <p:nvSpPr>
          <p:cNvPr id="43" name="Flag text 4"/>
          <p:cNvSpPr txBox="1"/>
          <p:nvPr/>
        </p:nvSpPr>
        <p:spPr>
          <a:xfrm>
            <a:off x="6263640" y="35935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Hover first: the link goes elsewhere</a:t>
            </a:r>
            <a:endParaRPr lang="en-US" sz="1300" dirty="0"/>
          </a:p>
        </p:txBody>
      </p:sp>
      <p:sp>
        <p:nvSpPr>
          <p:cNvPr id="44" name="Marker 5"/>
          <p:cNvSpPr/>
          <p:nvPr/>
        </p:nvSpPr>
        <p:spPr>
          <a:xfrm>
            <a:off x="5852160" y="4105656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85216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Flag title 5"/>
          <p:cNvSpPr txBox="1"/>
          <p:nvPr/>
        </p:nvSpPr>
        <p:spPr>
          <a:xfrm>
            <a:off x="6263640" y="40142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Odd attachment</a:t>
            </a:r>
            <a:endParaRPr lang="en-US" sz="1500" dirty="0"/>
          </a:p>
        </p:txBody>
      </p:sp>
      <p:sp>
        <p:nvSpPr>
          <p:cNvPr id="47" name="Flag text 5"/>
          <p:cNvSpPr txBox="1"/>
          <p:nvPr/>
        </p:nvSpPr>
        <p:spPr>
          <a:xfrm>
            <a:off x="6263640" y="4288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 never sends an .html file to "update" a password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spot the red flags</a:t>
            </a:r>
            <a:endParaRPr lang="en-US" sz="3000" dirty="0"/>
          </a:p>
        </p:txBody>
      </p:sp>
      <p:sp>
        <p:nvSpPr>
          <p:cNvPr id="4" name="Email card"/>
          <p:cNvSpPr/>
          <p:nvPr/>
        </p:nvSpPr>
        <p:spPr>
          <a:xfrm>
            <a:off x="457200" y="123444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5" name="Email header bar"/>
          <p:cNvSpPr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71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F82"/>
                </a:solidFill>
              </a:rPr>
              <a:t>Inbox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18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From: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18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F"/>
                </a:solidFill>
              </a:rPr>
              <a:t>Finance Director &lt;finance.director@nexusguard-pay.co&gt;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To: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You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305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Subject: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130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Quick favour, urgent payment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2423160"/>
            <a:ext cx="484632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Hi,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I am in meetings all day and cannot take calls. Please process the attached invoice today. The supplier is waiting. Keep this between us until it is done.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Thanks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2"/>
                </a:solidFill>
              </a:rPr>
              <a:t>Attachment: Payment_Instructions.xlsm</a:t>
            </a:r>
            <a:endParaRPr lang="en-US" sz="1100" dirty="0"/>
          </a:p>
        </p:txBody>
      </p:sp>
      <p:sp>
        <p:nvSpPr>
          <p:cNvPr id="16" name="Pause card"/>
          <p:cNvSpPr/>
          <p:nvPr/>
        </p:nvSpPr>
        <p:spPr>
          <a:xfrm>
            <a:off x="5852160" y="1234440"/>
            <a:ext cx="2834640" cy="3429000"/>
          </a:xfrm>
          <a:prstGeom prst="roundRect">
            <a:avLst>
              <a:gd name="adj" fmla="val 2581"/>
            </a:avLst>
          </a:prstGeom>
          <a:solidFill>
            <a:srgbClr val="FFF4D6"/>
          </a:solidFill>
          <a:ln w="15875">
            <a:solidFill>
              <a:srgbClr val="F2A541"/>
            </a:solidFill>
            <a:prstDash val="solid"/>
          </a:ln>
        </p:spPr>
      </p:sp>
      <p:pic>
        <p:nvPicPr>
          <p:cNvPr id="17" name="Image 0" descr="Tim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17320"/>
            <a:ext cx="411480" cy="411480"/>
          </a:xfrm>
          <a:prstGeom prst="rect">
            <a:avLst/>
          </a:prstGeom>
        </p:spPr>
      </p:pic>
      <p:sp>
        <p:nvSpPr>
          <p:cNvPr id="18" name="Pause head"/>
          <p:cNvSpPr txBox="1"/>
          <p:nvPr/>
        </p:nvSpPr>
        <p:spPr>
          <a:xfrm>
            <a:off x="658368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</a:t>
            </a:r>
            <a:endParaRPr lang="en-US" sz="1800" dirty="0"/>
          </a:p>
        </p:txBody>
      </p:sp>
      <p:sp>
        <p:nvSpPr>
          <p:cNvPr id="19" name="Pause text"/>
          <p:cNvSpPr txBox="1"/>
          <p:nvPr/>
        </p:nvSpPr>
        <p:spPr>
          <a:xfrm>
            <a:off x="6080760" y="1965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have 60 seconds.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at least 5 red flags in this email.</a:t>
            </a:r>
            <a:endParaRPr lang="en-US" sz="1600" dirty="0"/>
          </a:p>
        </p:txBody>
      </p:sp>
      <p:sp>
        <p:nvSpPr>
          <p:cNvPr id="20" name="Reveal button"/>
          <p:cNvSpPr/>
          <p:nvPr/>
        </p:nvSpPr>
        <p:spPr>
          <a:xfrm>
            <a:off x="6080760" y="374904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1" name="Text 17">
            <a:hlinkClick r:id="rId2" tooltip="Go to the answers" action="ppaction://hlinksldjump"/>
          </p:cNvPr>
          <p:cNvSpPr/>
          <p:nvPr/>
        </p:nvSpPr>
        <p:spPr>
          <a:xfrm>
            <a:off x="6080760" y="3749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hlinkClick r:id="rId2" action="ppaction://hlinksldjump" tooltip="Go to the answ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the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 flags</a:t>
            </a:r>
            <a:endParaRPr lang="en-US" sz="3000" dirty="0"/>
          </a:p>
        </p:txBody>
      </p:sp>
      <p:sp>
        <p:nvSpPr>
          <p:cNvPr id="4" name="Email card"/>
          <p:cNvSpPr/>
          <p:nvPr/>
        </p:nvSpPr>
        <p:spPr>
          <a:xfrm>
            <a:off x="457200" y="123444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5" name="Email header bar"/>
          <p:cNvSpPr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71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F82"/>
                </a:solidFill>
              </a:rPr>
              <a:t>Inbox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18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From: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18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F"/>
                </a:solidFill>
              </a:rPr>
              <a:t>Finance Director &lt;finance.director@nexusguard-pay.co&gt;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To: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You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305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2"/>
                </a:solidFill>
              </a:rPr>
              <a:t>Subject: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130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Quick favour, urgent payment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2423160"/>
            <a:ext cx="484632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Hi,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I am in meetings all day and cannot take calls. Please process the attached invoice today. The supplier is waiting. Keep this between us until it is done.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F"/>
                </a:solidFill>
              </a:rPr>
              <a:t>Thanks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2"/>
                </a:solidFill>
              </a:rPr>
              <a:t>Attachment: Payment_Instructions.xlsm</a:t>
            </a:r>
            <a:endParaRPr lang="en-US" sz="1100" dirty="0"/>
          </a:p>
        </p:txBody>
      </p:sp>
      <p:sp>
        <p:nvSpPr>
          <p:cNvPr id="16" name="Marker 1"/>
          <p:cNvSpPr/>
          <p:nvPr/>
        </p:nvSpPr>
        <p:spPr>
          <a:xfrm>
            <a:off x="274320" y="1536192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Marker 2"/>
          <p:cNvSpPr/>
          <p:nvPr/>
        </p:nvSpPr>
        <p:spPr>
          <a:xfrm>
            <a:off x="274320" y="21945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43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Marker 3"/>
          <p:cNvSpPr/>
          <p:nvPr/>
        </p:nvSpPr>
        <p:spPr>
          <a:xfrm>
            <a:off x="274320" y="274320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Marker 4"/>
          <p:cNvSpPr/>
          <p:nvPr/>
        </p:nvSpPr>
        <p:spPr>
          <a:xfrm>
            <a:off x="274320" y="31546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43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Marker 5"/>
          <p:cNvSpPr/>
          <p:nvPr/>
        </p:nvSpPr>
        <p:spPr>
          <a:xfrm>
            <a:off x="274320" y="352044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432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Marker 6"/>
          <p:cNvSpPr/>
          <p:nvPr/>
        </p:nvSpPr>
        <p:spPr>
          <a:xfrm>
            <a:off x="274320" y="42519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4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Marker 1"/>
          <p:cNvSpPr/>
          <p:nvPr/>
        </p:nvSpPr>
        <p:spPr>
          <a:xfrm>
            <a:off x="5852160" y="12801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Flag 1"/>
          <p:cNvSpPr txBox="1"/>
          <p:nvPr/>
        </p:nvSpPr>
        <p:spPr>
          <a:xfrm>
            <a:off x="6263640" y="1261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Sender domain is look-alike, not ours</a:t>
            </a:r>
            <a:endParaRPr lang="en-US" sz="1400" dirty="0"/>
          </a:p>
        </p:txBody>
      </p:sp>
      <p:sp>
        <p:nvSpPr>
          <p:cNvPr id="31" name="Marker 2"/>
          <p:cNvSpPr/>
          <p:nvPr/>
        </p:nvSpPr>
        <p:spPr>
          <a:xfrm>
            <a:off x="5852160" y="182880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8521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Flag 2"/>
          <p:cNvSpPr txBox="1"/>
          <p:nvPr/>
        </p:nvSpPr>
        <p:spPr>
          <a:xfrm>
            <a:off x="6263640" y="1810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Urgent request from a senior person who "cannot talk"</a:t>
            </a:r>
            <a:endParaRPr lang="en-US" sz="1400" dirty="0"/>
          </a:p>
        </p:txBody>
      </p:sp>
      <p:sp>
        <p:nvSpPr>
          <p:cNvPr id="34" name="Marker 3"/>
          <p:cNvSpPr/>
          <p:nvPr/>
        </p:nvSpPr>
        <p:spPr>
          <a:xfrm>
            <a:off x="5852160" y="237744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521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Flag 3"/>
          <p:cNvSpPr txBox="1"/>
          <p:nvPr/>
        </p:nvSpPr>
        <p:spPr>
          <a:xfrm>
            <a:off x="6263640" y="23591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Pressure: "the supplier is waiting"</a:t>
            </a:r>
            <a:endParaRPr lang="en-US" sz="1400" dirty="0"/>
          </a:p>
        </p:txBody>
      </p:sp>
      <p:sp>
        <p:nvSpPr>
          <p:cNvPr id="37" name="Marker 4"/>
          <p:cNvSpPr/>
          <p:nvPr/>
        </p:nvSpPr>
        <p:spPr>
          <a:xfrm>
            <a:off x="5852160" y="29260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85216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Flag 4"/>
          <p:cNvSpPr txBox="1"/>
          <p:nvPr/>
        </p:nvSpPr>
        <p:spPr>
          <a:xfrm>
            <a:off x="6263640" y="29077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Secrecy: "keep this between us"</a:t>
            </a:r>
            <a:endParaRPr lang="en-US" sz="1400" dirty="0"/>
          </a:p>
        </p:txBody>
      </p:sp>
      <p:sp>
        <p:nvSpPr>
          <p:cNvPr id="40" name="Marker 5"/>
          <p:cNvSpPr/>
          <p:nvPr/>
        </p:nvSpPr>
        <p:spPr>
          <a:xfrm>
            <a:off x="5852160" y="347472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85216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Flag 5"/>
          <p:cNvSpPr txBox="1"/>
          <p:nvPr/>
        </p:nvSpPr>
        <p:spPr>
          <a:xfrm>
            <a:off x="6263640" y="3456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Skips the normal payment approval process</a:t>
            </a:r>
            <a:endParaRPr lang="en-US" sz="1400" dirty="0"/>
          </a:p>
        </p:txBody>
      </p:sp>
      <p:sp>
        <p:nvSpPr>
          <p:cNvPr id="43" name="Marker 6"/>
          <p:cNvSpPr/>
          <p:nvPr/>
        </p:nvSpPr>
        <p:spPr>
          <a:xfrm>
            <a:off x="5852160" y="40233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521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Flag 6"/>
          <p:cNvSpPr txBox="1"/>
          <p:nvPr/>
        </p:nvSpPr>
        <p:spPr>
          <a:xfrm>
            <a:off x="6263640" y="4005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Macro-enabled attachment (.xlsm)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login pages</a:t>
            </a:r>
            <a:endParaRPr lang="en-US" sz="3000" dirty="0"/>
          </a:p>
        </p:txBody>
      </p:sp>
      <p:sp>
        <p:nvSpPr>
          <p:cNvPr id="4" name="Browser card"/>
          <p:cNvSpPr/>
          <p:nvPr/>
        </p:nvSpPr>
        <p:spPr>
          <a:xfrm>
            <a:off x="457200" y="1234440"/>
            <a:ext cx="4663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5" name="Browser bar"/>
          <p:cNvSpPr/>
          <p:nvPr/>
        </p:nvSpPr>
        <p:spPr>
          <a:xfrm>
            <a:off x="457200" y="1234440"/>
            <a:ext cx="4663440" cy="45720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URL field"/>
          <p:cNvSpPr/>
          <p:nvPr/>
        </p:nvSpPr>
        <p:spPr>
          <a:xfrm>
            <a:off x="640080" y="1307592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7" name="Fake URL"/>
          <p:cNvSpPr txBox="1"/>
          <p:nvPr/>
        </p:nvSpPr>
        <p:spPr>
          <a:xfrm>
            <a:off x="777240" y="13075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https://nexusguard-login.secure-verify.net/signin</a:t>
            </a:r>
            <a:endParaRPr lang="en-US" sz="1200" dirty="0"/>
          </a:p>
        </p:txBody>
      </p:sp>
      <p:sp>
        <p:nvSpPr>
          <p:cNvPr id="8" name="Marker 1"/>
          <p:cNvSpPr/>
          <p:nvPr/>
        </p:nvSpPr>
        <p:spPr>
          <a:xfrm>
            <a:off x="274320" y="13258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Fake page title"/>
          <p:cNvSpPr txBox="1"/>
          <p:nvPr/>
        </p:nvSpPr>
        <p:spPr>
          <a:xfrm>
            <a:off x="1005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to NexusGuard</a:t>
            </a:r>
            <a:endParaRPr lang="en-US" sz="1800" dirty="0"/>
          </a:p>
        </p:txBody>
      </p:sp>
      <p:sp>
        <p:nvSpPr>
          <p:cNvPr id="11" name="Field Email"/>
          <p:cNvSpPr/>
          <p:nvPr/>
        </p:nvSpPr>
        <p:spPr>
          <a:xfrm>
            <a:off x="1097280" y="256032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2"/>
                </a:solidFill>
              </a:rPr>
              <a:t>Email</a:t>
            </a:r>
            <a:endParaRPr lang="en-US" sz="1300" dirty="0"/>
          </a:p>
        </p:txBody>
      </p:sp>
      <p:sp>
        <p:nvSpPr>
          <p:cNvPr id="13" name="Field Password"/>
          <p:cNvSpPr/>
          <p:nvPr/>
        </p:nvSpPr>
        <p:spPr>
          <a:xfrm>
            <a:off x="1097280" y="320040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3444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2"/>
                </a:solidFill>
              </a:rPr>
              <a:t>Password</a:t>
            </a:r>
            <a:endParaRPr lang="en-US" sz="1300" dirty="0"/>
          </a:p>
        </p:txBody>
      </p:sp>
      <p:sp>
        <p:nvSpPr>
          <p:cNvPr id="15" name="Fake sign-in button"/>
          <p:cNvSpPr/>
          <p:nvPr/>
        </p:nvSpPr>
        <p:spPr>
          <a:xfrm>
            <a:off x="1097280" y="393192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 in</a:t>
            </a:r>
            <a:endParaRPr lang="en-US" sz="1400" dirty="0"/>
          </a:p>
        </p:txBody>
      </p:sp>
      <p:sp>
        <p:nvSpPr>
          <p:cNvPr id="17" name="Checks head"/>
          <p:cNvSpPr txBox="1"/>
          <p:nvPr/>
        </p:nvSpPr>
        <p:spPr>
          <a:xfrm>
            <a:off x="53949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type a password:</a:t>
            </a:r>
            <a:endParaRPr lang="en-US" sz="1800" dirty="0"/>
          </a:p>
        </p:txBody>
      </p:sp>
      <p:sp>
        <p:nvSpPr>
          <p:cNvPr id="18" name="Tick bg 1"/>
          <p:cNvSpPr/>
          <p:nvPr/>
        </p:nvSpPr>
        <p:spPr>
          <a:xfrm>
            <a:off x="5394960" y="1783080"/>
            <a:ext cx="274320" cy="2743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pic>
        <p:nvPicPr>
          <p:cNvPr id="19" name="Image 0" descr="T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1810512"/>
            <a:ext cx="219456" cy="219456"/>
          </a:xfrm>
          <a:prstGeom prst="rect">
            <a:avLst/>
          </a:prstGeom>
        </p:spPr>
      </p:pic>
      <p:sp>
        <p:nvSpPr>
          <p:cNvPr id="20" name="Check 1"/>
          <p:cNvSpPr txBox="1"/>
          <p:nvPr/>
        </p:nvSpPr>
        <p:spPr>
          <a:xfrm>
            <a:off x="5806440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address bar: is it exactly our sign-in address?</a:t>
            </a:r>
            <a:endParaRPr lang="en-US" sz="1400" dirty="0"/>
          </a:p>
        </p:txBody>
      </p:sp>
      <p:sp>
        <p:nvSpPr>
          <p:cNvPr id="21" name="Tick bg 2"/>
          <p:cNvSpPr/>
          <p:nvPr/>
        </p:nvSpPr>
        <p:spPr>
          <a:xfrm>
            <a:off x="5394960" y="2514600"/>
            <a:ext cx="274320" cy="2743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pic>
        <p:nvPicPr>
          <p:cNvPr id="22" name="Image 1" descr="T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2542032"/>
            <a:ext cx="219456" cy="219456"/>
          </a:xfrm>
          <a:prstGeom prst="rect">
            <a:avLst/>
          </a:prstGeom>
        </p:spPr>
      </p:pic>
      <p:sp>
        <p:nvSpPr>
          <p:cNvPr id="23" name="Check 2"/>
          <p:cNvSpPr txBox="1"/>
          <p:nvPr/>
        </p:nvSpPr>
        <p:spPr>
          <a:xfrm>
            <a:off x="580644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Did you arrive from a link in a message? Close it and use your bookmark.</a:t>
            </a:r>
            <a:endParaRPr lang="en-US" sz="1400" dirty="0"/>
          </a:p>
        </p:txBody>
      </p:sp>
      <p:sp>
        <p:nvSpPr>
          <p:cNvPr id="24" name="Tick bg 3"/>
          <p:cNvSpPr/>
          <p:nvPr/>
        </p:nvSpPr>
        <p:spPr>
          <a:xfrm>
            <a:off x="5394960" y="3246120"/>
            <a:ext cx="274320" cy="2743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pic>
        <p:nvPicPr>
          <p:cNvPr id="25" name="Image 2" descr="Ti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273552"/>
            <a:ext cx="219456" cy="219456"/>
          </a:xfrm>
          <a:prstGeom prst="rect">
            <a:avLst/>
          </a:prstGeom>
        </p:spPr>
      </p:pic>
      <p:sp>
        <p:nvSpPr>
          <p:cNvPr id="26" name="Check 3"/>
          <p:cNvSpPr txBox="1"/>
          <p:nvPr/>
        </p:nvSpPr>
        <p:spPr>
          <a:xfrm>
            <a:off x="580644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Expect MFA. A page that never asks for it is suspect.</a:t>
            </a:r>
            <a:endParaRPr lang="en-US" sz="1400" dirty="0"/>
          </a:p>
        </p:txBody>
      </p:sp>
      <p:sp>
        <p:nvSpPr>
          <p:cNvPr id="27" name="Tick bg 4"/>
          <p:cNvSpPr/>
          <p:nvPr/>
        </p:nvSpPr>
        <p:spPr>
          <a:xfrm>
            <a:off x="5394960" y="3977640"/>
            <a:ext cx="274320" cy="2743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pic>
        <p:nvPicPr>
          <p:cNvPr id="28" name="Image 3" descr="Ti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4005072"/>
            <a:ext cx="219456" cy="219456"/>
          </a:xfrm>
          <a:prstGeom prst="rect">
            <a:avLst/>
          </a:prstGeom>
        </p:spPr>
      </p:pic>
      <p:sp>
        <p:nvSpPr>
          <p:cNvPr id="29" name="Check 4"/>
          <p:cNvSpPr txBox="1"/>
          <p:nvPr/>
        </p:nvSpPr>
        <p:spPr>
          <a:xfrm>
            <a:off x="5806440" y="3931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Unsure? Do not type. Report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engineering: the human hack</a:t>
            </a:r>
            <a:endParaRPr lang="en-US" sz="3000" dirty="0"/>
          </a:p>
        </p:txBody>
      </p:sp>
      <p:sp>
        <p:nvSpPr>
          <p:cNvPr id="4" name="SE card 1"/>
          <p:cNvSpPr/>
          <p:nvPr/>
        </p:nvSpPr>
        <p:spPr>
          <a:xfrm>
            <a:off x="457200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E icon bg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6" name="Image 0" descr="Pretex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SE name 1"/>
          <p:cNvSpPr txBox="1"/>
          <p:nvPr/>
        </p:nvSpPr>
        <p:spPr>
          <a:xfrm>
            <a:off x="13258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</a:t>
            </a:r>
            <a:endParaRPr lang="en-US" sz="2000" dirty="0"/>
          </a:p>
        </p:txBody>
      </p:sp>
      <p:sp>
        <p:nvSpPr>
          <p:cNvPr id="8" name="SE text 1"/>
          <p:cNvSpPr txBox="1"/>
          <p:nvPr/>
        </p:nvSpPr>
        <p:spPr>
          <a:xfrm>
            <a:off x="640080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They pretend to be someone you trust: IT, a boss, a client, a supplier, a courier.</a:t>
            </a:r>
            <a:endParaRPr lang="en-US" sz="1500" dirty="0"/>
          </a:p>
        </p:txBody>
      </p:sp>
      <p:sp>
        <p:nvSpPr>
          <p:cNvPr id="9" name="SE card 2"/>
          <p:cNvSpPr/>
          <p:nvPr/>
        </p:nvSpPr>
        <p:spPr>
          <a:xfrm>
            <a:off x="3273552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E icon bg 2"/>
          <p:cNvSpPr/>
          <p:nvPr/>
        </p:nvSpPr>
        <p:spPr>
          <a:xfrm>
            <a:off x="3456432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11" name="Image 1" descr="Pressu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00200"/>
            <a:ext cx="274320" cy="274320"/>
          </a:xfrm>
          <a:prstGeom prst="rect">
            <a:avLst/>
          </a:prstGeom>
        </p:spPr>
      </p:pic>
      <p:sp>
        <p:nvSpPr>
          <p:cNvPr id="12" name="SE name 2"/>
          <p:cNvSpPr txBox="1"/>
          <p:nvPr/>
        </p:nvSpPr>
        <p:spPr>
          <a:xfrm>
            <a:off x="4142232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</a:t>
            </a:r>
            <a:endParaRPr lang="en-US" sz="2000" dirty="0"/>
          </a:p>
        </p:txBody>
      </p:sp>
      <p:sp>
        <p:nvSpPr>
          <p:cNvPr id="13" name="SE text 2"/>
          <p:cNvSpPr txBox="1"/>
          <p:nvPr/>
        </p:nvSpPr>
        <p:spPr>
          <a:xfrm>
            <a:off x="3456432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They create urgency, fear or authority so you skip your normal checks.</a:t>
            </a:r>
            <a:endParaRPr lang="en-US" sz="1500" dirty="0"/>
          </a:p>
        </p:txBody>
      </p:sp>
      <p:sp>
        <p:nvSpPr>
          <p:cNvPr id="14" name="SE card 3"/>
          <p:cNvSpPr/>
          <p:nvPr/>
        </p:nvSpPr>
        <p:spPr>
          <a:xfrm>
            <a:off x="6089904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E icon bg 3"/>
          <p:cNvSpPr/>
          <p:nvPr/>
        </p:nvSpPr>
        <p:spPr>
          <a:xfrm>
            <a:off x="6272784" y="1463040"/>
            <a:ext cx="548640" cy="5486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pic>
        <p:nvPicPr>
          <p:cNvPr id="16" name="Image 2" descr="Piv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600200"/>
            <a:ext cx="274320" cy="274320"/>
          </a:xfrm>
          <a:prstGeom prst="rect">
            <a:avLst/>
          </a:prstGeom>
        </p:spPr>
      </p:pic>
      <p:sp>
        <p:nvSpPr>
          <p:cNvPr id="17" name="SE name 3"/>
          <p:cNvSpPr txBox="1"/>
          <p:nvPr/>
        </p:nvSpPr>
        <p:spPr>
          <a:xfrm>
            <a:off x="6958584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</a:t>
            </a:r>
            <a:endParaRPr lang="en-US" sz="2000" dirty="0"/>
          </a:p>
        </p:txBody>
      </p:sp>
      <p:sp>
        <p:nvSpPr>
          <p:cNvPr id="18" name="SE text 3"/>
          <p:cNvSpPr txBox="1"/>
          <p:nvPr/>
        </p:nvSpPr>
        <p:spPr>
          <a:xfrm>
            <a:off x="6272784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They ask for something unusual: a password, a code, money, data or access.</a:t>
            </a:r>
            <a:endParaRPr lang="en-US" sz="1500" dirty="0"/>
          </a:p>
        </p:txBody>
      </p:sp>
      <p:sp>
        <p:nvSpPr>
          <p:cNvPr id="19" name="Verify banner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0" name="Verify text"/>
          <p:cNvSpPr txBox="1"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Verify on a second channel.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Hang up and call back on a number you already know, or message the person on a trusted channel. Never use the contact details the message gives you.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3000" dirty="0"/>
          </a:p>
        </p:txBody>
      </p:sp>
      <p:sp>
        <p:nvSpPr>
          <p:cNvPr id="4" name="Scenario card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5" name="Image 0" descr="Messa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6" name="Scenario text"/>
          <p:cNvSpPr txBox="1"/>
          <p:nvPr/>
        </p:nvSpPr>
        <p:spPr>
          <a:xfrm>
            <a:off x="1325880" y="132588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A chat message from "the CEO":
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"I am in a board meeting and cannot talk. Buy five gift cards for a client today and send me the codes. Keep it between us."</a:t>
            </a:r>
            <a:endParaRPr lang="en-US" sz="1600" dirty="0"/>
          </a:p>
        </p:txBody>
      </p:sp>
      <p:sp>
        <p:nvSpPr>
          <p:cNvPr id="7" name="Option A"/>
          <p:cNvSpPr/>
          <p:nvPr/>
        </p:nvSpPr>
        <p:spPr>
          <a:xfrm>
            <a:off x="457200" y="27432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8" name="Option letter bg A"/>
          <p:cNvSpPr/>
          <p:nvPr/>
        </p:nvSpPr>
        <p:spPr>
          <a:xfrm>
            <a:off x="594360" y="2816352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Option text A"/>
          <p:cNvSpPr txBox="1"/>
          <p:nvPr/>
        </p:nvSpPr>
        <p:spPr>
          <a:xfrm>
            <a:off x="1097280" y="27432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Buy the cards straight away. It is the CEO.</a:t>
            </a:r>
            <a:endParaRPr lang="en-US" sz="1500" dirty="0"/>
          </a:p>
        </p:txBody>
      </p:sp>
      <p:sp>
        <p:nvSpPr>
          <p:cNvPr id="11" name="Option B"/>
          <p:cNvSpPr/>
          <p:nvPr/>
        </p:nvSpPr>
        <p:spPr>
          <a:xfrm>
            <a:off x="457200" y="331012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12" name="Option letter bg B"/>
          <p:cNvSpPr/>
          <p:nvPr/>
        </p:nvSpPr>
        <p:spPr>
          <a:xfrm>
            <a:off x="594360" y="3383280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9436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text B"/>
          <p:cNvSpPr txBox="1"/>
          <p:nvPr/>
        </p:nvSpPr>
        <p:spPr>
          <a:xfrm>
            <a:off x="1097280" y="33101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not buy. Check with the CEO or your manager on a known number or channel, then report it.</a:t>
            </a:r>
            <a:endParaRPr lang="en-US" sz="1500" dirty="0"/>
          </a:p>
        </p:txBody>
      </p:sp>
      <p:sp>
        <p:nvSpPr>
          <p:cNvPr id="15" name="Option C"/>
          <p:cNvSpPr/>
          <p:nvPr/>
        </p:nvSpPr>
        <p:spPr>
          <a:xfrm>
            <a:off x="457200" y="387705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5D0DC"/>
            </a:solidFill>
            <a:prstDash val="solid"/>
          </a:ln>
        </p:spPr>
      </p:sp>
      <p:sp>
        <p:nvSpPr>
          <p:cNvPr id="16" name="Option letter bg C"/>
          <p:cNvSpPr/>
          <p:nvPr/>
        </p:nvSpPr>
        <p:spPr>
          <a:xfrm>
            <a:off x="594360" y="3950208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Option text C"/>
          <p:cNvSpPr txBox="1"/>
          <p:nvPr/>
        </p:nvSpPr>
        <p:spPr>
          <a:xfrm>
            <a:off x="1097280" y="387705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Reply and ask which client and how much.</a:t>
            </a:r>
            <a:endParaRPr lang="en-US" sz="1500" dirty="0"/>
          </a:p>
        </p:txBody>
      </p:sp>
      <p:sp>
        <p:nvSpPr>
          <p:cNvPr id="19" name="Text 15">
            <a:hlinkClick r:id="rId2" tooltip="Go to the debrief" action="ppaction://hlinksldjump"/>
          </p:cNvPr>
          <p:cNvSpPr/>
          <p:nvPr/>
        </p:nvSpPr>
        <p:spPr>
          <a:xfrm>
            <a:off x="67665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2E75B6"/>
                </a:solidFill>
                <a:hlinkClick r:id="rId2" action="ppaction://hlinksldjump" tooltip="Go to the debrie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the debrief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Debrief: the answer is B</a:t>
            </a:r>
            <a:endParaRPr lang="en-US" sz="3000" dirty="0"/>
          </a:p>
        </p:txBody>
      </p:sp>
      <p:sp>
        <p:nvSpPr>
          <p:cNvPr id="4" name="Why B card"/>
          <p:cNvSpPr/>
          <p:nvPr/>
        </p:nvSpPr>
        <p:spPr>
          <a:xfrm>
            <a:off x="457200" y="12344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pic>
        <p:nvPicPr>
          <p:cNvPr id="5" name="Image 0" descr="Corre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 is right</a:t>
            </a:r>
            <a:endParaRPr lang="en-US" sz="1800" dirty="0"/>
          </a:p>
        </p:txBody>
      </p:sp>
      <p:sp>
        <p:nvSpPr>
          <p:cNvPr id="7" name="Why B text"/>
          <p:cNvSpPr txBox="1"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stop the request without paying anything, you confirm it through a channel the attacker does not control, and the report lets Security warn others.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 the scenario</a:t>
            </a:r>
            <a:endParaRPr lang="en-US" sz="1800" dirty="0"/>
          </a:p>
        </p:txBody>
      </p:sp>
      <p:sp>
        <p:nvSpPr>
          <p:cNvPr id="9" name="Marker 1"/>
          <p:cNvSpPr/>
          <p:nvPr/>
        </p:nvSpPr>
        <p:spPr>
          <a:xfrm>
            <a:off x="4754880" y="173736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Debrief flag 1"/>
          <p:cNvSpPr txBox="1"/>
          <p:nvPr/>
        </p:nvSpPr>
        <p:spPr>
          <a:xfrm>
            <a:off x="5166360" y="1719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Urgency: "today"</a:t>
            </a:r>
            <a:endParaRPr lang="en-US" sz="1500" dirty="0"/>
          </a:p>
        </p:txBody>
      </p:sp>
      <p:sp>
        <p:nvSpPr>
          <p:cNvPr id="12" name="Marker 2"/>
          <p:cNvSpPr/>
          <p:nvPr/>
        </p:nvSpPr>
        <p:spPr>
          <a:xfrm>
            <a:off x="4754880" y="2304288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5488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Debrief flag 2"/>
          <p:cNvSpPr txBox="1"/>
          <p:nvPr/>
        </p:nvSpPr>
        <p:spPr>
          <a:xfrm>
            <a:off x="516636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Authority: it appears to come from the CEO</a:t>
            </a:r>
            <a:endParaRPr lang="en-US" sz="1500" dirty="0"/>
          </a:p>
        </p:txBody>
      </p:sp>
      <p:sp>
        <p:nvSpPr>
          <p:cNvPr id="15" name="Marker 3"/>
          <p:cNvSpPr/>
          <p:nvPr/>
        </p:nvSpPr>
        <p:spPr>
          <a:xfrm>
            <a:off x="4754880" y="2871216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Debrief flag 3"/>
          <p:cNvSpPr txBox="1"/>
          <p:nvPr/>
        </p:nvSpPr>
        <p:spPr>
          <a:xfrm>
            <a:off x="516636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Secrecy: "keep it between us"</a:t>
            </a:r>
            <a:endParaRPr lang="en-US" sz="1500" dirty="0"/>
          </a:p>
        </p:txBody>
      </p:sp>
      <p:sp>
        <p:nvSpPr>
          <p:cNvPr id="18" name="Marker 4"/>
          <p:cNvSpPr/>
          <p:nvPr/>
        </p:nvSpPr>
        <p:spPr>
          <a:xfrm>
            <a:off x="4754880" y="3438144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548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Debrief flag 4"/>
          <p:cNvSpPr txBox="1"/>
          <p:nvPr/>
        </p:nvSpPr>
        <p:spPr>
          <a:xfrm>
            <a:off x="5166360" y="34198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Unusual payment: gift card codes</a:t>
            </a:r>
            <a:endParaRPr lang="en-US" sz="1500" dirty="0"/>
          </a:p>
        </p:txBody>
      </p:sp>
      <p:sp>
        <p:nvSpPr>
          <p:cNvPr id="21" name="Marker 5"/>
          <p:cNvSpPr/>
          <p:nvPr/>
        </p:nvSpPr>
        <p:spPr>
          <a:xfrm>
            <a:off x="4754880" y="4005072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Debrief flag 5"/>
          <p:cNvSpPr txBox="1"/>
          <p:nvPr/>
        </p:nvSpPr>
        <p:spPr>
          <a:xfrm>
            <a:off x="5166360" y="39867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Unavailable to talk: so you cannot check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click: act fast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457200" y="1280160"/>
            <a:ext cx="1938528" cy="26517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circle 1"/>
          <p:cNvSpPr/>
          <p:nvPr/>
        </p:nvSpPr>
        <p:spPr>
          <a:xfrm>
            <a:off x="1097280" y="1417320"/>
            <a:ext cx="640080" cy="64008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 head 1"/>
          <p:cNvSpPr txBox="1"/>
          <p:nvPr/>
        </p:nvSpPr>
        <p:spPr>
          <a:xfrm>
            <a:off x="59436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 not panic and do not hide it</a:t>
            </a:r>
            <a:endParaRPr lang="en-US" sz="1500" dirty="0"/>
          </a:p>
        </p:txBody>
      </p:sp>
      <p:sp>
        <p:nvSpPr>
          <p:cNvPr id="8" name="Step text 1"/>
          <p:cNvSpPr txBox="1"/>
          <p:nvPr/>
        </p:nvSpPr>
        <p:spPr>
          <a:xfrm>
            <a:off x="594360" y="2788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Everyone can be fooled. Speed matters more than blame.</a:t>
            </a:r>
            <a:endParaRPr lang="en-US" sz="1300" dirty="0"/>
          </a:p>
        </p:txBody>
      </p:sp>
      <p:sp>
        <p:nvSpPr>
          <p:cNvPr id="9" name="Step card 2"/>
          <p:cNvSpPr/>
          <p:nvPr/>
        </p:nvSpPr>
        <p:spPr>
          <a:xfrm>
            <a:off x="2542032" y="1280160"/>
            <a:ext cx="1938528" cy="26517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circle 2"/>
          <p:cNvSpPr/>
          <p:nvPr/>
        </p:nvSpPr>
        <p:spPr>
          <a:xfrm>
            <a:off x="3182112" y="1417320"/>
            <a:ext cx="640080" cy="64008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8211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tep head 2"/>
          <p:cNvSpPr txBox="1"/>
          <p:nvPr/>
        </p:nvSpPr>
        <p:spPr>
          <a:xfrm>
            <a:off x="2679192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 it straight away</a:t>
            </a:r>
            <a:endParaRPr lang="en-US" sz="1500" dirty="0"/>
          </a:p>
        </p:txBody>
      </p:sp>
      <p:sp>
        <p:nvSpPr>
          <p:cNvPr id="13" name="Step text 2"/>
          <p:cNvSpPr txBox="1"/>
          <p:nvPr/>
        </p:nvSpPr>
        <p:spPr>
          <a:xfrm>
            <a:off x="2679192" y="2788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the Report Phishing button or the incident channel, within 1 hour.</a:t>
            </a:r>
            <a:endParaRPr lang="en-US" sz="1300" dirty="0"/>
          </a:p>
        </p:txBody>
      </p:sp>
      <p:sp>
        <p:nvSpPr>
          <p:cNvPr id="14" name="Step card 3"/>
          <p:cNvSpPr/>
          <p:nvPr/>
        </p:nvSpPr>
        <p:spPr>
          <a:xfrm>
            <a:off x="4626864" y="1280160"/>
            <a:ext cx="1938528" cy="26517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circle 3"/>
          <p:cNvSpPr/>
          <p:nvPr/>
        </p:nvSpPr>
        <p:spPr>
          <a:xfrm>
            <a:off x="5266944" y="1417320"/>
            <a:ext cx="640080" cy="64008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6694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tep head 3"/>
          <p:cNvSpPr txBox="1"/>
          <p:nvPr/>
        </p:nvSpPr>
        <p:spPr>
          <a:xfrm>
            <a:off x="4764024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Change your password</a:t>
            </a:r>
            <a:endParaRPr lang="en-US" sz="1500" dirty="0"/>
          </a:p>
        </p:txBody>
      </p:sp>
      <p:sp>
        <p:nvSpPr>
          <p:cNvPr id="18" name="Step text 3"/>
          <p:cNvSpPr txBox="1"/>
          <p:nvPr/>
        </p:nvSpPr>
        <p:spPr>
          <a:xfrm>
            <a:off x="4764024" y="2788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you typed it into a page, change it from a trusted device. IT will guide you.</a:t>
            </a:r>
            <a:endParaRPr lang="en-US" sz="1300" dirty="0"/>
          </a:p>
        </p:txBody>
      </p:sp>
      <p:sp>
        <p:nvSpPr>
          <p:cNvPr id="19" name="Step card 4"/>
          <p:cNvSpPr/>
          <p:nvPr/>
        </p:nvSpPr>
        <p:spPr>
          <a:xfrm>
            <a:off x="6711696" y="1280160"/>
            <a:ext cx="1938528" cy="26517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circle 4"/>
          <p:cNvSpPr/>
          <p:nvPr/>
        </p:nvSpPr>
        <p:spPr>
          <a:xfrm>
            <a:off x="7351776" y="1417320"/>
            <a:ext cx="640080" cy="64008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5177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tep head 4"/>
          <p:cNvSpPr txBox="1"/>
          <p:nvPr/>
        </p:nvSpPr>
        <p:spPr>
          <a:xfrm>
            <a:off x="6848856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Follow Security's instructions</a:t>
            </a:r>
            <a:endParaRPr lang="en-US" sz="1500" dirty="0"/>
          </a:p>
        </p:txBody>
      </p:sp>
      <p:sp>
        <p:nvSpPr>
          <p:cNvPr id="23" name="Step text 4"/>
          <p:cNvSpPr txBox="1"/>
          <p:nvPr/>
        </p:nvSpPr>
        <p:spPr>
          <a:xfrm>
            <a:off x="6848856" y="2788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They may ask you to disconnect or reset your device. Do as they ask.</a:t>
            </a:r>
            <a:endParaRPr lang="en-US" sz="1300" dirty="0"/>
          </a:p>
        </p:txBody>
      </p:sp>
      <p:sp>
        <p:nvSpPr>
          <p:cNvPr id="24" name="No blame banne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E00"/>
                </a:solidFill>
              </a:rPr>
              <a:t>No blame for reporting quickly. Hiding a click is the real risk.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report</a:t>
            </a:r>
            <a:endParaRPr lang="en-US" sz="3000" dirty="0"/>
          </a:p>
        </p:txBody>
      </p:sp>
      <p:sp>
        <p:nvSpPr>
          <p:cNvPr id="4" name="Report row 1"/>
          <p:cNvSpPr/>
          <p:nvPr/>
        </p:nvSpPr>
        <p:spPr>
          <a:xfrm>
            <a:off x="457200" y="128016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port num bg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Report text 1"/>
          <p:cNvSpPr txBox="1"/>
          <p:nvPr/>
        </p:nvSpPr>
        <p:spPr>
          <a:xfrm>
            <a:off x="1280160" y="1280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Click Report Phishing
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the button in your mail client. If you have no button, use the incident reporting channel.</a:t>
            </a:r>
            <a:endParaRPr lang="en-US" sz="1500" dirty="0"/>
          </a:p>
        </p:txBody>
      </p:sp>
      <p:sp>
        <p:nvSpPr>
          <p:cNvPr id="8" name="Report row 2"/>
          <p:cNvSpPr/>
          <p:nvPr/>
        </p:nvSpPr>
        <p:spPr>
          <a:xfrm>
            <a:off x="457200" y="214884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port num bg 2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port text 2"/>
          <p:cNvSpPr txBox="1"/>
          <p:nvPr/>
        </p:nvSpPr>
        <p:spPr>
          <a:xfrm>
            <a:off x="1280160" y="2148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 not forward or reply
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Forwarding spreads the risk. The button sends it safely to Security.</a:t>
            </a:r>
            <a:endParaRPr lang="en-US" sz="1500" dirty="0"/>
          </a:p>
        </p:txBody>
      </p:sp>
      <p:sp>
        <p:nvSpPr>
          <p:cNvPr id="12" name="Report row 3"/>
          <p:cNvSpPr/>
          <p:nvPr/>
        </p:nvSpPr>
        <p:spPr>
          <a:xfrm>
            <a:off x="457200" y="301752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eport num bg 3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Report text 3"/>
          <p:cNvSpPr txBox="1"/>
          <p:nvPr/>
        </p:nvSpPr>
        <p:spPr>
          <a:xfrm>
            <a:off x="1280160" y="3017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 reviews it
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Security Operations team triages it, blocks similar emails and warns staff if needed.</a:t>
            </a:r>
            <a:endParaRPr lang="en-US" sz="1500" dirty="0"/>
          </a:p>
        </p:txBody>
      </p:sp>
      <p:sp>
        <p:nvSpPr>
          <p:cNvPr id="16" name="Report row 4"/>
          <p:cNvSpPr/>
          <p:nvPr/>
        </p:nvSpPr>
        <p:spPr>
          <a:xfrm>
            <a:off x="457200" y="388620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port num bg 4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0F7C8A"/>
          </a:solidFill>
          <a:ln w="12700">
            <a:solidFill>
              <a:srgbClr val="0F7C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Report text 4"/>
          <p:cNvSpPr txBox="1"/>
          <p:nvPr/>
        </p:nvSpPr>
        <p:spPr>
          <a:xfrm>
            <a:off x="1280160" y="3886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You get feedback
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will be told whether it was real or a test, and what to look for.</a:t>
            </a:r>
            <a:endParaRPr lang="en-US" sz="1500" dirty="0"/>
          </a:p>
        </p:txBody>
      </p:sp>
      <p:sp>
        <p:nvSpPr>
          <p:cNvPr id="20" name="Target card"/>
          <p:cNvSpPr/>
          <p:nvPr/>
        </p:nvSpPr>
        <p:spPr>
          <a:xfrm>
            <a:off x="5852160" y="1280160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1" name="Target stat"/>
          <p:cNvSpPr txBox="1"/>
          <p:nvPr/>
        </p:nvSpPr>
        <p:spPr>
          <a:xfrm>
            <a:off x="603504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6000" dirty="0"/>
          </a:p>
        </p:txBody>
      </p:sp>
      <p:sp>
        <p:nvSpPr>
          <p:cNvPr id="22" name="Target label"/>
          <p:cNvSpPr txBox="1"/>
          <p:nvPr/>
        </p:nvSpPr>
        <p:spPr>
          <a:xfrm>
            <a:off x="603504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of simulated phishing emails reported by year-end. Our goal, with 1 hour as the time limit.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C6D8"/>
                </a:solidFill>
              </a:rPr>
              <a:t>Policy: report within 1 hour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(1 of 2)</a:t>
            </a:r>
            <a:endParaRPr lang="en-US" sz="3000" dirty="0"/>
          </a:p>
        </p:txBody>
      </p:sp>
      <p:sp>
        <p:nvSpPr>
          <p:cNvPr id="4" name="Question 1"/>
          <p:cNvSpPr/>
          <p:nvPr/>
        </p:nvSpPr>
        <p:spPr>
          <a:xfrm>
            <a:off x="457200" y="11887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uestion text 1"/>
          <p:cNvSpPr txBox="1"/>
          <p:nvPr/>
        </p:nvSpPr>
        <p:spPr>
          <a:xfrm>
            <a:off x="640080" y="12618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Q1. An email says your password expires in 2 hours and offers a "Keep my password" link. What do you do?</a:t>
            </a:r>
            <a:endParaRPr lang="en-US" sz="1400" dirty="0"/>
          </a:p>
        </p:txBody>
      </p:sp>
      <p:sp>
        <p:nvSpPr>
          <p:cNvPr id="6" name="Q1 option A"/>
          <p:cNvSpPr txBox="1"/>
          <p:nvPr/>
        </p:nvSpPr>
        <p:spPr>
          <a:xfrm>
            <a:off x="82296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A.  Click quickly before it expires</a:t>
            </a:r>
            <a:endParaRPr lang="en-US" sz="1200" dirty="0"/>
          </a:p>
        </p:txBody>
      </p:sp>
      <p:sp>
        <p:nvSpPr>
          <p:cNvPr id="7" name="Q1 option B"/>
          <p:cNvSpPr txBox="1"/>
          <p:nvPr/>
        </p:nvSpPr>
        <p:spPr>
          <a:xfrm>
            <a:off x="484632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B.  Reply to ask if it is real</a:t>
            </a:r>
            <a:endParaRPr lang="en-US" sz="1200" dirty="0"/>
          </a:p>
        </p:txBody>
      </p:sp>
      <p:sp>
        <p:nvSpPr>
          <p:cNvPr id="8" name="Q1 option C"/>
          <p:cNvSpPr txBox="1"/>
          <p:nvPr/>
        </p:nvSpPr>
        <p:spPr>
          <a:xfrm>
            <a:off x="82296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C.  Go to the portal yourself and report it</a:t>
            </a:r>
            <a:endParaRPr lang="en-US" sz="1200" dirty="0"/>
          </a:p>
        </p:txBody>
      </p:sp>
      <p:sp>
        <p:nvSpPr>
          <p:cNvPr id="9" name="Q1 option D"/>
          <p:cNvSpPr txBox="1"/>
          <p:nvPr/>
        </p:nvSpPr>
        <p:spPr>
          <a:xfrm>
            <a:off x="484632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D.  Forward it to your colleagues</a:t>
            </a:r>
            <a:endParaRPr lang="en-US" sz="1200" dirty="0"/>
          </a:p>
        </p:txBody>
      </p:sp>
      <p:sp>
        <p:nvSpPr>
          <p:cNvPr id="10" name="Question 2"/>
          <p:cNvSpPr/>
          <p:nvPr/>
        </p:nvSpPr>
        <p:spPr>
          <a:xfrm>
            <a:off x="457200" y="237744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Question text 2"/>
          <p:cNvSpPr txBox="1"/>
          <p:nvPr/>
        </p:nvSpPr>
        <p:spPr>
          <a:xfrm>
            <a:off x="640080" y="2450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Q2. Which is the strongest sign that an email may be phishing?</a:t>
            </a:r>
            <a:endParaRPr lang="en-US" sz="1400" dirty="0"/>
          </a:p>
        </p:txBody>
      </p:sp>
      <p:sp>
        <p:nvSpPr>
          <p:cNvPr id="12" name="Q2 option A"/>
          <p:cNvSpPr txBox="1"/>
          <p:nvPr/>
        </p:nvSpPr>
        <p:spPr>
          <a:xfrm>
            <a:off x="82296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A.  It has a company logo</a:t>
            </a:r>
            <a:endParaRPr lang="en-US" sz="1200" dirty="0"/>
          </a:p>
        </p:txBody>
      </p:sp>
      <p:sp>
        <p:nvSpPr>
          <p:cNvPr id="13" name="Q2 option B"/>
          <p:cNvSpPr txBox="1"/>
          <p:nvPr/>
        </p:nvSpPr>
        <p:spPr>
          <a:xfrm>
            <a:off x="484632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B.  Look-alike sender and an urgent tone</a:t>
            </a:r>
            <a:endParaRPr lang="en-US" sz="1200" dirty="0"/>
          </a:p>
        </p:txBody>
      </p:sp>
      <p:sp>
        <p:nvSpPr>
          <p:cNvPr id="14" name="Q2 option C"/>
          <p:cNvSpPr txBox="1"/>
          <p:nvPr/>
        </p:nvSpPr>
        <p:spPr>
          <a:xfrm>
            <a:off x="822960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C.  It arrived at 9 am</a:t>
            </a:r>
            <a:endParaRPr lang="en-US" sz="1200" dirty="0"/>
          </a:p>
        </p:txBody>
      </p:sp>
      <p:sp>
        <p:nvSpPr>
          <p:cNvPr id="15" name="Q2 option D"/>
          <p:cNvSpPr txBox="1"/>
          <p:nvPr/>
        </p:nvSpPr>
        <p:spPr>
          <a:xfrm>
            <a:off x="4846320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D.  It has an email signature</a:t>
            </a:r>
            <a:endParaRPr lang="en-US" sz="1200" dirty="0"/>
          </a:p>
        </p:txBody>
      </p:sp>
      <p:sp>
        <p:nvSpPr>
          <p:cNvPr id="16" name="Question 3"/>
          <p:cNvSpPr/>
          <p:nvPr/>
        </p:nvSpPr>
        <p:spPr>
          <a:xfrm>
            <a:off x="457200" y="35661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Question text 3"/>
          <p:cNvSpPr txBox="1"/>
          <p:nvPr/>
        </p:nvSpPr>
        <p:spPr>
          <a:xfrm>
            <a:off x="640080" y="36393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Q3. You typed your password into a page that looked like the login. What do you do first?</a:t>
            </a:r>
            <a:endParaRPr lang="en-US" sz="1400" dirty="0"/>
          </a:p>
        </p:txBody>
      </p:sp>
      <p:sp>
        <p:nvSpPr>
          <p:cNvPr id="18" name="Q3 option A"/>
          <p:cNvSpPr txBox="1"/>
          <p:nvPr/>
        </p:nvSpPr>
        <p:spPr>
          <a:xfrm>
            <a:off x="82296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A.  Wait and see what happens</a:t>
            </a:r>
            <a:endParaRPr lang="en-US" sz="1200" dirty="0"/>
          </a:p>
        </p:txBody>
      </p:sp>
      <p:sp>
        <p:nvSpPr>
          <p:cNvPr id="19" name="Q3 option B"/>
          <p:cNvSpPr txBox="1"/>
          <p:nvPr/>
        </p:nvSpPr>
        <p:spPr>
          <a:xfrm>
            <a:off x="484632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B.  Change the password and tell nobody</a:t>
            </a:r>
            <a:endParaRPr lang="en-US" sz="1200" dirty="0"/>
          </a:p>
        </p:txBody>
      </p:sp>
      <p:sp>
        <p:nvSpPr>
          <p:cNvPr id="20" name="Q3 option C"/>
          <p:cNvSpPr txBox="1"/>
          <p:nvPr/>
        </p:nvSpPr>
        <p:spPr>
          <a:xfrm>
            <a:off x="82296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C.  Report it now and reset the password</a:t>
            </a:r>
            <a:endParaRPr lang="en-US" sz="1200" dirty="0"/>
          </a:p>
        </p:txBody>
      </p:sp>
      <p:sp>
        <p:nvSpPr>
          <p:cNvPr id="21" name="Q3 option D"/>
          <p:cNvSpPr txBox="1"/>
          <p:nvPr/>
        </p:nvSpPr>
        <p:spPr>
          <a:xfrm>
            <a:off x="484632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D.  Delete the email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(2 of 2)</a:t>
            </a:r>
            <a:endParaRPr lang="en-US" sz="3000" dirty="0"/>
          </a:p>
        </p:txBody>
      </p:sp>
      <p:sp>
        <p:nvSpPr>
          <p:cNvPr id="4" name="Question 4"/>
          <p:cNvSpPr/>
          <p:nvPr/>
        </p:nvSpPr>
        <p:spPr>
          <a:xfrm>
            <a:off x="457200" y="11887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uestion text 4"/>
          <p:cNvSpPr txBox="1"/>
          <p:nvPr/>
        </p:nvSpPr>
        <p:spPr>
          <a:xfrm>
            <a:off x="640080" y="12618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Q4. A caller says they are a client and asks you to read out personal details to "verify" them. What do you do?</a:t>
            </a:r>
            <a:endParaRPr lang="en-US" sz="1400" dirty="0"/>
          </a:p>
        </p:txBody>
      </p:sp>
      <p:sp>
        <p:nvSpPr>
          <p:cNvPr id="6" name="Q4 option A"/>
          <p:cNvSpPr txBox="1"/>
          <p:nvPr/>
        </p:nvSpPr>
        <p:spPr>
          <a:xfrm>
            <a:off x="82296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A.  Give the details, they are a client</a:t>
            </a:r>
            <a:endParaRPr lang="en-US" sz="1200" dirty="0"/>
          </a:p>
        </p:txBody>
      </p:sp>
      <p:sp>
        <p:nvSpPr>
          <p:cNvPr id="7" name="Q4 option B"/>
          <p:cNvSpPr txBox="1"/>
          <p:nvPr/>
        </p:nvSpPr>
        <p:spPr>
          <a:xfrm>
            <a:off x="484632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B.  Call back on a known number; share the minimum</a:t>
            </a:r>
            <a:endParaRPr lang="en-US" sz="1200" dirty="0"/>
          </a:p>
        </p:txBody>
      </p:sp>
      <p:sp>
        <p:nvSpPr>
          <p:cNvPr id="8" name="Q4 option C"/>
          <p:cNvSpPr txBox="1"/>
          <p:nvPr/>
        </p:nvSpPr>
        <p:spPr>
          <a:xfrm>
            <a:off x="82296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C.  Ask them to email instead</a:t>
            </a:r>
            <a:endParaRPr lang="en-US" sz="1200" dirty="0"/>
          </a:p>
        </p:txBody>
      </p:sp>
      <p:sp>
        <p:nvSpPr>
          <p:cNvPr id="9" name="Q4 option D"/>
          <p:cNvSpPr txBox="1"/>
          <p:nvPr/>
        </p:nvSpPr>
        <p:spPr>
          <a:xfrm>
            <a:off x="484632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D.  Hang up and say nothing</a:t>
            </a:r>
            <a:endParaRPr lang="en-US" sz="1200" dirty="0"/>
          </a:p>
        </p:txBody>
      </p:sp>
      <p:sp>
        <p:nvSpPr>
          <p:cNvPr id="10" name="Question 5"/>
          <p:cNvSpPr/>
          <p:nvPr/>
        </p:nvSpPr>
        <p:spPr>
          <a:xfrm>
            <a:off x="457200" y="237744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Question text 5"/>
          <p:cNvSpPr txBox="1"/>
          <p:nvPr/>
        </p:nvSpPr>
        <p:spPr>
          <a:xfrm>
            <a:off x="640080" y="2450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Q5. You get an MFA approval request you did not start. What do you do?</a:t>
            </a:r>
            <a:endParaRPr lang="en-US" sz="1400" dirty="0"/>
          </a:p>
        </p:txBody>
      </p:sp>
      <p:sp>
        <p:nvSpPr>
          <p:cNvPr id="12" name="Q5 option A"/>
          <p:cNvSpPr txBox="1"/>
          <p:nvPr/>
        </p:nvSpPr>
        <p:spPr>
          <a:xfrm>
            <a:off x="82296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A.  Approve it to stop the alerts</a:t>
            </a:r>
            <a:endParaRPr lang="en-US" sz="1200" dirty="0"/>
          </a:p>
        </p:txBody>
      </p:sp>
      <p:sp>
        <p:nvSpPr>
          <p:cNvPr id="13" name="Q5 option B"/>
          <p:cNvSpPr txBox="1"/>
          <p:nvPr/>
        </p:nvSpPr>
        <p:spPr>
          <a:xfrm>
            <a:off x="484632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B.  Ignore it</a:t>
            </a:r>
            <a:endParaRPr lang="en-US" sz="1200" dirty="0"/>
          </a:p>
        </p:txBody>
      </p:sp>
      <p:sp>
        <p:nvSpPr>
          <p:cNvPr id="14" name="Q5 option C"/>
          <p:cNvSpPr txBox="1"/>
          <p:nvPr/>
        </p:nvSpPr>
        <p:spPr>
          <a:xfrm>
            <a:off x="822960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C.  Deny it and report it</a:t>
            </a:r>
            <a:endParaRPr lang="en-US" sz="1200" dirty="0"/>
          </a:p>
        </p:txBody>
      </p:sp>
      <p:sp>
        <p:nvSpPr>
          <p:cNvPr id="15" name="Q5 option D"/>
          <p:cNvSpPr txBox="1"/>
          <p:nvPr/>
        </p:nvSpPr>
        <p:spPr>
          <a:xfrm>
            <a:off x="4846320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D.  Approve it and reset your password later</a:t>
            </a:r>
            <a:endParaRPr lang="en-US" sz="1200" dirty="0"/>
          </a:p>
        </p:txBody>
      </p:sp>
      <p:sp>
        <p:nvSpPr>
          <p:cNvPr id="16" name="Answers button"/>
          <p:cNvSpPr/>
          <p:nvPr/>
        </p:nvSpPr>
        <p:spPr>
          <a:xfrm>
            <a:off x="6309360" y="370332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7" name="Text 14">
            <a:hlinkClick r:id="rId1" tooltip="Go to the answers" action="ppaction://hlinksldjump"/>
          </p:cNvPr>
          <p:cNvSpPr/>
          <p:nvPr/>
        </p:nvSpPr>
        <p:spPr>
          <a:xfrm>
            <a:off x="630936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hlinkClick r:id="rId1" action="ppaction://hlinksldjump" tooltip="Go to the answ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your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and key takeaways</a:t>
            </a:r>
            <a:endParaRPr lang="en-US" sz="3000" dirty="0"/>
          </a:p>
        </p:txBody>
      </p:sp>
      <p:sp>
        <p:nvSpPr>
          <p:cNvPr id="4" name="Answer Q1"/>
          <p:cNvSpPr/>
          <p:nvPr/>
        </p:nvSpPr>
        <p:spPr>
          <a:xfrm>
            <a:off x="457200" y="123444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</a:t>
            </a:r>
            <a:endParaRPr lang="en-US" sz="1400" dirty="0"/>
          </a:p>
        </p:txBody>
      </p:sp>
      <p:sp>
        <p:nvSpPr>
          <p:cNvPr id="6" name="Answer letter bg Q1"/>
          <p:cNvSpPr/>
          <p:nvPr/>
        </p:nvSpPr>
        <p:spPr>
          <a:xfrm>
            <a:off x="1051560" y="1325880"/>
            <a:ext cx="365760" cy="36576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8" name="Answer text Q1"/>
          <p:cNvSpPr txBox="1"/>
          <p:nvPr/>
        </p:nvSpPr>
        <p:spPr>
          <a:xfrm>
            <a:off x="155448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act on the link. Use a route you trust, and report.</a:t>
            </a:r>
            <a:endParaRPr lang="en-US" sz="1200" dirty="0"/>
          </a:p>
        </p:txBody>
      </p:sp>
      <p:sp>
        <p:nvSpPr>
          <p:cNvPr id="9" name="Answer Q2"/>
          <p:cNvSpPr/>
          <p:nvPr/>
        </p:nvSpPr>
        <p:spPr>
          <a:xfrm>
            <a:off x="457200" y="187452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Answer letter bg Q2"/>
          <p:cNvSpPr/>
          <p:nvPr/>
        </p:nvSpPr>
        <p:spPr>
          <a:xfrm>
            <a:off x="1051560" y="1965960"/>
            <a:ext cx="365760" cy="36576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3" name="Answer text Q2"/>
          <p:cNvSpPr txBox="1"/>
          <p:nvPr/>
        </p:nvSpPr>
        <p:spPr>
          <a:xfrm>
            <a:off x="155448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look-alike sender plus urgency is the classic pattern.</a:t>
            </a:r>
            <a:endParaRPr lang="en-US" sz="1200" dirty="0"/>
          </a:p>
        </p:txBody>
      </p:sp>
      <p:sp>
        <p:nvSpPr>
          <p:cNvPr id="14" name="Answer Q3"/>
          <p:cNvSpPr/>
          <p:nvPr/>
        </p:nvSpPr>
        <p:spPr>
          <a:xfrm>
            <a:off x="457200" y="251460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</a:t>
            </a:r>
            <a:endParaRPr lang="en-US" sz="1400" dirty="0"/>
          </a:p>
        </p:txBody>
      </p:sp>
      <p:sp>
        <p:nvSpPr>
          <p:cNvPr id="16" name="Answer letter bg Q3"/>
          <p:cNvSpPr/>
          <p:nvPr/>
        </p:nvSpPr>
        <p:spPr>
          <a:xfrm>
            <a:off x="1051560" y="2606040"/>
            <a:ext cx="365760" cy="36576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Answer text Q3"/>
          <p:cNvSpPr txBox="1"/>
          <p:nvPr/>
        </p:nvSpPr>
        <p:spPr>
          <a:xfrm>
            <a:off x="155448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Speed matters. Report within 1 hour and reset the password.</a:t>
            </a:r>
            <a:endParaRPr lang="en-US" sz="1200" dirty="0"/>
          </a:p>
        </p:txBody>
      </p:sp>
      <p:sp>
        <p:nvSpPr>
          <p:cNvPr id="19" name="Answer Q4"/>
          <p:cNvSpPr/>
          <p:nvPr/>
        </p:nvSpPr>
        <p:spPr>
          <a:xfrm>
            <a:off x="457200" y="315468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Q4</a:t>
            </a:r>
            <a:endParaRPr lang="en-US" sz="1400" dirty="0"/>
          </a:p>
        </p:txBody>
      </p:sp>
      <p:sp>
        <p:nvSpPr>
          <p:cNvPr id="21" name="Answer letter bg Q4"/>
          <p:cNvSpPr/>
          <p:nvPr/>
        </p:nvSpPr>
        <p:spPr>
          <a:xfrm>
            <a:off x="1051560" y="3246120"/>
            <a:ext cx="365760" cy="36576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3" name="Answer text Q4"/>
          <p:cNvSpPr txBox="1"/>
          <p:nvPr/>
        </p:nvSpPr>
        <p:spPr>
          <a:xfrm>
            <a:off x="1554480" y="3154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Verify on a known number and share the minimum.</a:t>
            </a:r>
            <a:endParaRPr lang="en-US" sz="1200" dirty="0"/>
          </a:p>
        </p:txBody>
      </p:sp>
      <p:sp>
        <p:nvSpPr>
          <p:cNvPr id="24" name="Answer Q5"/>
          <p:cNvSpPr/>
          <p:nvPr/>
        </p:nvSpPr>
        <p:spPr>
          <a:xfrm>
            <a:off x="457200" y="379476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Q5</a:t>
            </a:r>
            <a:endParaRPr lang="en-US" sz="1400" dirty="0"/>
          </a:p>
        </p:txBody>
      </p:sp>
      <p:sp>
        <p:nvSpPr>
          <p:cNvPr id="26" name="Answer letter bg Q5"/>
          <p:cNvSpPr/>
          <p:nvPr/>
        </p:nvSpPr>
        <p:spPr>
          <a:xfrm>
            <a:off x="1051560" y="3886200"/>
            <a:ext cx="365760" cy="36576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515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8" name="Answer text Q5"/>
          <p:cNvSpPr txBox="1"/>
          <p:nvPr/>
        </p:nvSpPr>
        <p:spPr>
          <a:xfrm>
            <a:off x="1554480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unexpected prompt means your password is known. Deny and report.</a:t>
            </a:r>
            <a:endParaRPr lang="en-US" sz="1200" dirty="0"/>
          </a:p>
        </p:txBody>
      </p:sp>
      <p:sp>
        <p:nvSpPr>
          <p:cNvPr id="29" name="Takeaways card"/>
          <p:cNvSpPr/>
          <p:nvPr/>
        </p:nvSpPr>
        <p:spPr>
          <a:xfrm>
            <a:off x="5669280" y="123444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978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800" dirty="0"/>
          </a:p>
        </p:txBody>
      </p:sp>
      <p:sp>
        <p:nvSpPr>
          <p:cNvPr id="31" name="Takeaways text"/>
          <p:cNvSpPr txBox="1"/>
          <p:nvPr/>
        </p:nvSpPr>
        <p:spPr>
          <a:xfrm>
            <a:off x="5897880" y="1828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Stop and look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C6D8"/>
                </a:solidFill>
              </a:rPr>
              <a:t>Urgency and secrecy are warning signs.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Verify another way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C6D8"/>
                </a:solidFill>
              </a:rPr>
              <a:t>Use a number or channel you already trust.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 within 1 hour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C6D8"/>
                </a:solidFill>
              </a:rPr>
              <a:t>No blame for reporting quickly.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82"/>
                </a:solidFill>
              </a:rPr>
              <a:t>Pass mark: 80% (4 of 5). Next: Module 2, Passwords, MFA and password managers.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Guard Security Awareness">
  <a:themeElements>
    <a:clrScheme name="NexusGuard Security Awareness">
      <a:dk1>
        <a:srgbClr val="12263F"/>
      </a:dk1>
      <a:lt1>
        <a:srgbClr val="FFFFFF"/>
      </a:lt1>
      <a:dk2>
        <a:srgbClr val="17365D"/>
      </a:dk2>
      <a:lt2>
        <a:srgbClr val="EEF3F8"/>
      </a:lt2>
      <a:accent1>
        <a:srgbClr val="2E75B6"/>
      </a:accent1>
      <a:accent2>
        <a:srgbClr val="F2A541"/>
      </a:accent2>
      <a:accent3>
        <a:srgbClr val="C0392B"/>
      </a:accent3>
      <a:accent4>
        <a:srgbClr val="2E8B6A"/>
      </a:accent4>
      <a:accent5>
        <a:srgbClr val="5F6F82"/>
      </a:accent5>
      <a:accent6>
        <a:srgbClr val="0F7C8A"/>
      </a:accent6>
      <a:hlink>
        <a:srgbClr val="2E75B6"/>
      </a:hlink>
      <a:folHlink>
        <a:srgbClr val="5F6F82"/>
      </a:folHlink>
    </a:clrScheme>
    <a:fontScheme name="NexusGuard Security Awaren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NexusGuard Security Awareness: Phishing and Social Engineering (General Staff)</dc:title>
  <dc:subject>PptxGenJS Presentation</dc:subject>
  <dc:creator>Augustine Ozor, GRC Analyst</dc:creator>
  <cp:lastModifiedBy>Augustine Ozor, GRC Analyst</cp:lastModifiedBy>
  <cp:revision>1</cp:revision>
  <dcterms:created xsi:type="dcterms:W3CDTF">2026-10-19T19:26:21Z</dcterms:created>
  <dcterms:modified xsi:type="dcterms:W3CDTF">2026-10-19T19:26:21Z</dcterms:modified>
</cp:coreProperties>
</file>